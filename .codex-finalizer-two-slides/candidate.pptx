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26fba95210419a" /><Relationship Type="http://schemas.openxmlformats.org/officeDocument/2006/relationships/extended-properties" Target="/docProps/app.xml" Id="R8528cf761aa34bfe" /><Relationship Type="http://schemas.openxmlformats.org/officeDocument/2006/relationships/officeDocument" Target="/ppt/presentation.xml" Id="R94a87fff989f47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785dd57856432e"/>
  </p:sldMasterIdLst>
  <p:notesMasterIdLst>
    <p:notesMasterId xmlns:r="http://schemas.openxmlformats.org/officeDocument/2006/relationships" r:id="Rbce0e99bf82443c0"/>
  </p:notesMasterIdLst>
  <p:sldIdLst>
    <p:sldId xmlns:r="http://schemas.openxmlformats.org/officeDocument/2006/relationships" id="256" r:id="R9bf08a794a504af0"/>
    <p:sldId xmlns:r="http://schemas.openxmlformats.org/officeDocument/2006/relationships" id="257" r:id="R687f1d5fc33b4a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608532c64b4878" /><Relationship Type="http://schemas.openxmlformats.org/officeDocument/2006/relationships/slideMaster" Target="/ppt/slideMasters/slideMaster1.xml" Id="Rb1785dd57856432e" /><Relationship Type="http://schemas.openxmlformats.org/officeDocument/2006/relationships/notesMaster" Target="/ppt/notesMasters/notesMaster1.xml" Id="Rbce0e99bf82443c0" /><Relationship Type="http://schemas.openxmlformats.org/officeDocument/2006/relationships/presProps" Target="/ppt/presProps.xml" Id="Rb1b207c711ae4f14" /><Relationship Type="http://schemas.openxmlformats.org/officeDocument/2006/relationships/viewProps" Target="/ppt/viewProps.xml" Id="Re4cad207a0254a7e" /><Relationship Type="http://schemas.openxmlformats.org/officeDocument/2006/relationships/tableStyles" Target="/ppt/tableStyles.xml" Id="Rc200bb6661514b70" /><Relationship Type="http://schemas.openxmlformats.org/officeDocument/2006/relationships/slide" Target="/ppt/slides/slide1.xml" Id="R9bf08a794a504af0" /><Relationship Type="http://schemas.openxmlformats.org/officeDocument/2006/relationships/slide" Target="/ppt/slides/slide2.xml" Id="R687f1d5fc33b4a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71285db6704c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22075bef144633" /><Relationship Type="http://schemas.openxmlformats.org/officeDocument/2006/relationships/notesMaster" Target="/ppt/notesMasters/notesMaster1.xml" Id="R591ab18c9bb846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ef52bb57fe4f28" /><Relationship Type="http://schemas.openxmlformats.org/officeDocument/2006/relationships/notesMaster" Target="/ppt/notesMasters/notesMaster1.xml" Id="R6dfe59aa92df4a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本页说明研究问题与总体技术路线。左侧概括真实试验昂贵、仿真预算有限、高维耦合、强物理约束和多目标权衡五项共性难题。右侧四项研究形成闭环：a 融合生物观测、有限元仿真与力学试验数据；b 以机理模型为基础、由数据学习残差，在有限预算下预测关键性能；c 给定轻量化、强度与寿命目标生成候选设计，并用知识图谱、物理约束和制造规则筛选；d 制造缩比原型并开展力学实验，将实测偏差回灌数据集与模型。下一页进一步说明观察数据和受控干预分别在闭环中承担什么作用。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回答数据和因果干预如何进入设计闭环。观察数据包括水鸟形态、着陆视频以及历史运行和试验记录，它们用于学习设计先验和相关规律，但不能单独证明改变某个参数会改善性能。有限元参数扫描和受控缩比实验主动设定设计变量，在工况保持一致时比较性能变化，因此提供模型内或实验条件下的干预证据。代理模型按照设计变量、机理状态和性能响应分层建模，并综合预测不确定性与干预价值安排下一次高保真仿真。生成模型给定目标性能提出候选，再由知识图谱、物理约束和制造规则筛选。FFY 中的具体例子是：水鸟数据提示腿长和比例的先验范围；在固定质量、着陆速度和地面条件时，主动改变腿长比、刚度和阻尼；最后由 Exudyn、有限元和缩比原型比较峰值过载、行程、质量与寿命。需要强调，仿真干预识别的是模型内因果，原型试验负责检验它能否迁移到真实结构。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43e4faf3294e37" /><Relationship Type="http://schemas.openxmlformats.org/officeDocument/2006/relationships/image" Target="/ppt/media/image.jpeg" Id="Rb079d951d41848c9" /><Relationship Type="http://schemas.openxmlformats.org/officeDocument/2006/relationships/image" Target="/ppt/media/image.png" Id="R5629d5f0790245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de0c8386142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c67071d65343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9e4b54ef3741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918e5e5014c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f476e05854280" /><Relationship Type="http://schemas.openxmlformats.org/officeDocument/2006/relationships/image" Target="/ppt/media/image2.png" Id="Ra788bf00fcfd443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be3b11ee04d10" /><Relationship Type="http://schemas.openxmlformats.org/officeDocument/2006/relationships/image" Target="/ppt/media/image3.png" Id="Rf98e907d20e54ec7" /><Relationship Type="http://schemas.openxmlformats.org/officeDocument/2006/relationships/image" Target="/ppt/media/image4.png" Id="Rbd72a0b3416c4ba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37a47de8644d3" /><Relationship Type="http://schemas.openxmlformats.org/officeDocument/2006/relationships/image" Target="/ppt/media/image3.png" Id="Rf0c22eb7e8354473" /><Relationship Type="http://schemas.openxmlformats.org/officeDocument/2006/relationships/image" Target="/ppt/media/image4.png" Id="R3726b97fe28b4802" /><Relationship Type="http://schemas.openxmlformats.org/officeDocument/2006/relationships/image" Target="/ppt/media/image5.png" Id="Ra0b08adb95b8453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6d8e1e858437a" /><Relationship Type="http://schemas.openxmlformats.org/officeDocument/2006/relationships/image" Target="/ppt/media/image3.png" Id="R18052b9622524597" /><Relationship Type="http://schemas.openxmlformats.org/officeDocument/2006/relationships/image" Target="/ppt/media/image4.png" Id="R4813c9ef18c84e0b" /><Relationship Type="http://schemas.openxmlformats.org/officeDocument/2006/relationships/image" Target="/ppt/media/image5.png" Id="R34f5a1ca5ca547d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9738b66cfc4143" /><Relationship Type="http://schemas.openxmlformats.org/officeDocument/2006/relationships/image" Target="/ppt/media/image3.png" Id="Rbdce886d0a524ab1" /><Relationship Type="http://schemas.openxmlformats.org/officeDocument/2006/relationships/image" Target="/ppt/media/image4.png" Id="Rd8e07c6a3d7f4cfd" /><Relationship Type="http://schemas.openxmlformats.org/officeDocument/2006/relationships/image" Target="/ppt/media/image2.png" Id="Rf6ede4bfa337422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c293623ae4cd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8c2352582456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892085edd47d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2ca3bb5ba7430a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9d951d41848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204000" cy="6915059"/>
          </a:xfrm>
          <a:prstGeom xmlns:a="http://schemas.openxmlformats.org/drawingml/2006/main" prst="rect">
            <a:avLst/>
          </a:prstGeom>
        </p:spPr>
      </p:pic>
      <p:pic>
        <p:nvPicPr>
          <p:cNvPr id="10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9d5f0790245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5258" y="110373"/>
            <a:ext cx="3749048" cy="670561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BB8B91-CCD9-4E31-80DA-02B81E4749E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E4FE769-903C-44CC-96D0-97387AED30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026687-3B4F-4246-B552-8FF34FC881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B37D93-D8B7-4382-889F-631268653D75}" type="datetimeFigureOut">
              <a:t>2026/9/27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0E548F2-9D1F-4E92-A314-640F1070E9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B42996B-4946-4103-BC73-13E08B42F3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1A7DEB-D25E-46AD-993C-EB337E1F7901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0A18CDF-26F5-4078-9C5B-98E315840E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3E26D20-2ECA-4A0C-82D2-66E6CC54651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CE483F5-9027-401A-9B54-DE8D6B3C23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B37D93-D8B7-4382-889F-631268653D75}" type="datetimeFigureOut">
              <a:t>2026/9/27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EE569CA-2B1B-4D05-8BBF-3695045524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16246F-1B6F-47A5-ADF4-D93820FF7C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1A7DEB-D25E-46AD-993C-EB337E1F7901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9FC7905-187A-493F-B5DC-2A333350C7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0C13CE2-AD11-4A02-A519-9B5B132B55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192E3E-FFA4-4F36-AFCE-99A4E778BE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B37D93-D8B7-4382-889F-631268653D75}" type="datetimeFigureOut">
              <a:t>2026/9/27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940733B-3B3A-45A0-8316-54AAC6919F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9C94E04-9FEC-4EB7-8099-AB109D5347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1A7DEB-D25E-46AD-993C-EB337E1F7901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0E285ED-43B4-4344-BC98-5AD51CC41F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FD17A69-AE94-4C56-BBF6-59018EFEAB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9BFCF4F-C96C-421E-98AA-E9011C69F3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5AA4177-C0A7-49C6-BB94-1E985C8D23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B37D93-D8B7-4382-889F-631268653D75}" type="datetimeFigureOut">
              <a:t>2026/9/27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DACA42B-39AF-4862-A685-228C57474C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927D84B-4A0D-4C13-80F4-2C61F02EC4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1A7DEB-D25E-46AD-993C-EB337E1F7901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39D12AE-A421-418C-8D4A-110B3D42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5682D69-AD1D-4D7D-8FBA-28B4890036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430A8F5-42F9-472A-A45A-BF842801B87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C4ADA81-4F71-4372-8902-F3883B6E27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FFB6338-42C6-4F7C-8ABF-BBE5FD04BB5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B5709E5-2DBC-4D0B-8F0C-92F32304D6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B37D93-D8B7-4382-889F-631268653D75}" type="datetimeFigureOut">
              <a:t>2026/9/27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98926926-5E55-48BE-93A0-4C062FD2F3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894B129-790B-4B95-8315-F36518BCF8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1A7DEB-D25E-46AD-993C-EB337E1F7901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AA57E98-AE81-4CC7-95A9-E72FAA2822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B37D93-D8B7-4382-889F-631268653D75}" type="datetimeFigureOut">
              <a:t>2026/9/27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E411D8B-69AD-4379-84FD-43D4E04A29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FE41D69-06F6-4B05-B383-5DD887F79D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1A7DEB-D25E-46AD-993C-EB337E1F7901}" type="slidenum">
              <a:t>‹#›</a:t>
            </a:fld>
            <a:endParaRPr/>
          </a:p>
        </p:txBody>
      </p:sp>
      <p:pic>
        <p:nvPicPr>
          <p:cNvPr id="11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8bf00fcfd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28163" y="196850"/>
            <a:ext cx="2632075" cy="4699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2BF0366-B292-45E3-B379-4DDA5813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70" y="766233"/>
            <a:ext cx="11390528" cy="97367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bg1">
                  <a:lumMod val="65000"/>
                </a:schemeClr>
              </a:gs>
              <a:gs pos="100000">
                <a:schemeClr val="bg1"/>
              </a:gs>
            </a:gsLst>
            <a:lin ang="0" scaled="0"/>
            <a:tileRect/>
          </a:gradFill>
          <a:ln xmlns:a="http://schemas.openxmlformats.org/drawingml/2006/main" w="2540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8" tIns="45718" rIns="45718" bIns="45718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FC231EF6-1243-427C-B1EB-5FEF54405C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B37D93-D8B7-4382-889F-631268653D75}" type="datetimeFigureOut">
              <a:t>2026/9/27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ED2D35B-2FCE-4448-9D92-3C071EC8D3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AAFF8F3-0B2D-4CE7-8C75-5BE68561D9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1A7DEB-D25E-46AD-993C-EB337E1F7901}" type="slidenum">
              <a:t>‹#›</a:t>
            </a:fld>
            <a:endParaRPr/>
          </a:p>
        </p:txBody>
      </p:sp>
      <p:pic>
        <p:nvPicPr>
          <p:cNvPr id="14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e907d20e54e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7999"/>
          </a:xfrm>
          <a:prstGeom xmlns:a="http://schemas.openxmlformats.org/drawingml/2006/main" prst="rect">
            <a:avLst/>
          </a:prstGeom>
        </p:spPr>
      </p:pic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3DCD101-BD3C-4435-B3DE-191381ED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C">
              <a:alpha val="4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C26A623-E3ED-4DA2-A50A-40F204DD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1732"/>
            <a:ext cx="12175128" cy="690973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d72a0b3416c4bac">
              <a:alphaModFix amt="35000"/>
            </a:blip>
            <a:srcRect l="0" t="0" r="0" b="0"/>
            <a:stretch>
              <a:fillRect l="0" t="0" r="0" b="0"/>
            </a:stretch>
          </a:blip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69767A4-0AA8-4AF6-AB62-A13F0C4D53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B37D93-D8B7-4382-889F-631268653D75}" type="datetimeFigureOut">
              <a:t>2026/9/27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E9A303F6-1B23-4281-A997-628BEC4C93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6C52614-99CA-4544-BA75-37BC36ECC2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1A7DEB-D25E-46AD-993C-EB337E1F7901}" type="slidenum">
              <a:t>‹#›</a:t>
            </a:fld>
            <a:endParaRPr/>
          </a:p>
        </p:txBody>
      </p:sp>
      <p:pic>
        <p:nvPicPr>
          <p:cNvPr id="1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22eb7e8354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7999"/>
          </a:xfrm>
          <a:prstGeom xmlns:a="http://schemas.openxmlformats.org/drawingml/2006/main" prst="rect">
            <a:avLst/>
          </a:prstGeom>
        </p:spPr>
      </p:pic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BD5A50E-2B4C-4DAF-B163-20C56C36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C">
              <a:alpha val="4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44F5C2A-0F54-49D7-A94D-7EA808DB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1732"/>
            <a:ext cx="12175128" cy="690973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726b97fe28b4802">
              <a:alphaModFix amt="35000"/>
            </a:blip>
            <a:srcRect l="0" t="0" r="0" b="0"/>
            <a:stretch>
              <a:fillRect l="0" t="0" r="0" b="0"/>
            </a:stretch>
          </a:blip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08adb95b845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9385" y="6224270"/>
            <a:ext cx="3061970" cy="54800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4E49C5E-FC3D-46E7-859E-B803DD831B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B37D93-D8B7-4382-889F-631268653D75}" type="datetimeFigureOut">
              <a:t>2026/9/27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E78A473B-7E92-49AC-8F8C-282133826E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6CDFE9C-0D93-4AFF-AC7E-A1B512AF82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1A7DEB-D25E-46AD-993C-EB337E1F7901}" type="slidenum">
              <a:t>‹#›</a:t>
            </a:fld>
            <a:endParaRPr/>
          </a:p>
        </p:txBody>
      </p:sp>
      <p:pic>
        <p:nvPicPr>
          <p:cNvPr id="1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52b96225245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7999"/>
          </a:xfrm>
          <a:prstGeom xmlns:a="http://schemas.openxmlformats.org/drawingml/2006/main" prst="rect">
            <a:avLst/>
          </a:prstGeom>
        </p:spPr>
      </p:pic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AE5EF1B-0AA3-4855-969D-5F69B9A0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C">
              <a:alpha val="4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DDA83D7-34C3-49B7-9D36-1733A3B6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1732"/>
            <a:ext cx="12175128" cy="690973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813c9ef18c84e0b">
              <a:alphaModFix amt="35000"/>
            </a:blip>
            <a:srcRect l="0" t="0" r="0" b="0"/>
            <a:stretch>
              <a:fillRect l="0" t="0" r="0" b="0"/>
            </a:stretch>
          </a:blip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0432B19-4FA4-4AA3-BE28-894FE064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" y="3937000"/>
            <a:ext cx="12230735" cy="2960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2D32"/>
          </a:solidFill>
          <a:ln xmlns:a="http://schemas.openxmlformats.org/drawingml/2006/main" w="2540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vert="horz" wrap="square" lIns="45718" tIns="45718" rIns="45718" bIns="45718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5a1ca5ca547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9385" y="6224270"/>
            <a:ext cx="3061970" cy="5480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1013E92-C21D-47D4-AEE1-189EB535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70" y="766233"/>
            <a:ext cx="11390528" cy="97367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bg1">
                  <a:lumMod val="65000"/>
                </a:schemeClr>
              </a:gs>
              <a:gs pos="100000">
                <a:schemeClr val="bg1"/>
              </a:gs>
            </a:gsLst>
            <a:lin ang="0" scaled="0"/>
            <a:tileRect/>
          </a:gradFill>
          <a:ln xmlns:a="http://schemas.openxmlformats.org/drawingml/2006/main" w="2540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8" tIns="45718" rIns="45718" bIns="45718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B51DCEF-85AD-4794-8C9A-E2B8E2FD3A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B37D93-D8B7-4382-889F-631268653D75}" type="datetimeFigureOut">
              <a:t>2026/9/27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E73C1E8-7FFF-44A7-9C91-8C9AD5CC38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E926F4D-B599-4933-8050-0F8F51A2A5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1A7DEB-D25E-46AD-993C-EB337E1F7901}" type="slidenum">
              <a:t>‹#›</a:t>
            </a:fld>
            <a:endParaRPr/>
          </a:p>
        </p:txBody>
      </p:sp>
      <p:pic>
        <p:nvPicPr>
          <p:cNvPr id="1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e886d0a524a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7999"/>
          </a:xfrm>
          <a:prstGeom xmlns:a="http://schemas.openxmlformats.org/drawingml/2006/main" prst="rect">
            <a:avLst/>
          </a:prstGeom>
        </p:spPr>
      </p:pic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695FE98-3ADC-497B-B0C6-DA25CB86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C">
              <a:alpha val="4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C51BE92-1B8F-494F-9D8B-28A770B5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1732"/>
            <a:ext cx="12175128" cy="690973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8e07c6a3d7f4cfd">
              <a:alphaModFix amt="35000"/>
            </a:blip>
            <a:srcRect l="0" t="0" r="0" b="0"/>
            <a:stretch>
              <a:fillRect l="0" t="0" r="0" b="0"/>
            </a:stretch>
          </a:blip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8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de4bfa33742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28163" y="196850"/>
            <a:ext cx="2632075" cy="469900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FB351FF-9DDF-4FB6-BF59-EDC7C87E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70" y="766233"/>
            <a:ext cx="11390528" cy="97367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bg1">
                  <a:lumMod val="65000"/>
                </a:schemeClr>
              </a:gs>
              <a:gs pos="100000">
                <a:schemeClr val="bg1"/>
              </a:gs>
            </a:gsLst>
            <a:lin ang="0" scaled="0"/>
            <a:tileRect/>
          </a:gradFill>
          <a:ln xmlns:a="http://schemas.openxmlformats.org/drawingml/2006/main" w="2540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8" tIns="45718" rIns="45718" bIns="45718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4394AFE-926D-47FC-98AB-CA5503D64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B699B54-3596-40F7-AA52-56F3103422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F91DDF0-2058-4DD9-814E-C5B33A116F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FC52198-4174-45F3-BB3B-5901801E4C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B37D93-D8B7-4382-889F-631268653D75}" type="datetimeFigureOut">
              <a:t>2026/9/27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B418540-A617-4DA4-8FA8-E774884887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3C2290E-17E3-401B-B2CF-93F532643C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1A7DEB-D25E-46AD-993C-EB337E1F7901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671613-44EF-4C2F-AC75-98A49E959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AFDA021-183C-4E49-BCE2-50E8265A3EC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3356BCE-127F-4B6A-A2D7-039D8E67A4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391E66E-84D1-43DB-B2A8-501778F0F4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B37D93-D8B7-4382-889F-631268653D75}" type="datetimeFigureOut">
              <a:t>2026/9/27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C2C85B5-FC5E-4C71-8B69-769520FE35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9A3363F-56B5-4F9C-9803-C648150C79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1A7DEB-D25E-46AD-993C-EB337E1F7901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EB7798B-6BD4-42DC-8D3F-B73C26AFC6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FC094BC-DA5C-4AD2-957B-1F9AC548FC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EC20141-E151-400E-822E-408CF93326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B37D93-D8B7-4382-889F-631268653D75}" type="datetimeFigureOut">
              <a:t>2026/9/27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BFF67B1-EB15-44FC-A867-212412B12F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F8970BE-8844-48E7-9B58-B1A5010107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1A7DEB-D25E-46AD-993C-EB337E1F7901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1AE72E1C-FC28-437F-8DB4-2C2AFA960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4455AD7-50E3-4A90-819A-2A1C7827AD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F480FD2-F63C-4D64-B205-FFF43C0265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B37D93-D8B7-4382-889F-631268653D75}" type="datetimeFigureOut">
              <a:t>2026/9/27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931724F-F62F-4F22-A6D2-AC5DA8FF96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6261377-C4ED-4ABD-970B-237DEA467E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1A7DEB-D25E-46AD-993C-EB337E1F790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65c7f39ea04d09" /><Relationship Type="http://schemas.openxmlformats.org/officeDocument/2006/relationships/slideLayout" Target="/ppt/slideLayouts/slideLayout1.xml" Id="R220675f25570442a" /><Relationship Type="http://schemas.openxmlformats.org/officeDocument/2006/relationships/slideLayout" Target="/ppt/slideLayouts/slideLayout2.xml" Id="R071b6462fbc94b2d" /><Relationship Type="http://schemas.openxmlformats.org/officeDocument/2006/relationships/slideLayout" Target="/ppt/slideLayouts/slideLayout3.xml" Id="R9e228d7dedb245de" /><Relationship Type="http://schemas.openxmlformats.org/officeDocument/2006/relationships/slideLayout" Target="/ppt/slideLayouts/slideLayout4.xml" Id="R620d9ecc73c743e9" /><Relationship Type="http://schemas.openxmlformats.org/officeDocument/2006/relationships/slideLayout" Target="/ppt/slideLayouts/slideLayout5.xml" Id="R13d68d0138b94d6c" /><Relationship Type="http://schemas.openxmlformats.org/officeDocument/2006/relationships/slideLayout" Target="/ppt/slideLayouts/slideLayout6.xml" Id="R316e121be9e74fa4" /><Relationship Type="http://schemas.openxmlformats.org/officeDocument/2006/relationships/slideLayout" Target="/ppt/slideLayouts/slideLayout7.xml" Id="Re478b5c9ce9847e4" /><Relationship Type="http://schemas.openxmlformats.org/officeDocument/2006/relationships/slideLayout" Target="/ppt/slideLayouts/slideLayout8.xml" Id="R94cc2a7544d54d5a" /><Relationship Type="http://schemas.openxmlformats.org/officeDocument/2006/relationships/slideLayout" Target="/ppt/slideLayouts/slideLayout9.xml" Id="Readb948618664a15" /><Relationship Type="http://schemas.openxmlformats.org/officeDocument/2006/relationships/slideLayout" Target="/ppt/slideLayouts/slideLayout10.xml" Id="R54970b4f63b9414e" /><Relationship Type="http://schemas.openxmlformats.org/officeDocument/2006/relationships/slideLayout" Target="/ppt/slideLayouts/slideLayout11.xml" Id="R267161f17a6042bb" /><Relationship Type="http://schemas.openxmlformats.org/officeDocument/2006/relationships/slideLayout" Target="/ppt/slideLayouts/slideLayout12.xml" Id="R763b9e31e925427c" /><Relationship Type="http://schemas.openxmlformats.org/officeDocument/2006/relationships/slideLayout" Target="/ppt/slideLayouts/slideLayout13.xml" Id="Ra9e30ca8a08948a3" /><Relationship Type="http://schemas.openxmlformats.org/officeDocument/2006/relationships/slideLayout" Target="/ppt/slideLayouts/slideLayout14.xml" Id="Rddb526385ead431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113E7DD-6725-434D-909C-5F09153CA7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90C0AF3-C0CC-4799-9378-F62E60E811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F11BAD4-5F76-446B-BE6F-20C3ED6BBAF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77B37D93-D8B7-4382-889F-631268653D75}" type="datetimeFigureOut">
              <a:t>2026/9/27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1BB8125-17CE-4E92-B67B-43A27D54D5A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482604F-C0C5-4A2D-B552-90B47D0E91E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031A7DEB-D25E-46AD-993C-EB337E1F790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0675f25570442a"/>
    <p:sldLayoutId xmlns:r="http://schemas.openxmlformats.org/officeDocument/2006/relationships" id="2147483650" r:id="R071b6462fbc94b2d"/>
    <p:sldLayoutId xmlns:r="http://schemas.openxmlformats.org/officeDocument/2006/relationships" id="2147483651" r:id="R9e228d7dedb245de"/>
    <p:sldLayoutId xmlns:r="http://schemas.openxmlformats.org/officeDocument/2006/relationships" id="2147483652" r:id="R620d9ecc73c743e9"/>
    <p:sldLayoutId xmlns:r="http://schemas.openxmlformats.org/officeDocument/2006/relationships" id="2147483653" r:id="R13d68d0138b94d6c"/>
    <p:sldLayoutId xmlns:r="http://schemas.openxmlformats.org/officeDocument/2006/relationships" id="2147483654" r:id="R316e121be9e74fa4"/>
    <p:sldLayoutId xmlns:r="http://schemas.openxmlformats.org/officeDocument/2006/relationships" id="2147483655" r:id="Re478b5c9ce9847e4"/>
    <p:sldLayoutId xmlns:r="http://schemas.openxmlformats.org/officeDocument/2006/relationships" id="2147483656" r:id="R94cc2a7544d54d5a"/>
    <p:sldLayoutId xmlns:r="http://schemas.openxmlformats.org/officeDocument/2006/relationships" id="2147483657" r:id="Readb948618664a15"/>
    <p:sldLayoutId xmlns:r="http://schemas.openxmlformats.org/officeDocument/2006/relationships" id="2147483658" r:id="R54970b4f63b9414e"/>
    <p:sldLayoutId xmlns:r="http://schemas.openxmlformats.org/officeDocument/2006/relationships" id="2147483659" r:id="R267161f17a6042bb"/>
    <p:sldLayoutId xmlns:r="http://schemas.openxmlformats.org/officeDocument/2006/relationships" id="2147483660" r:id="R763b9e31e925427c"/>
    <p:sldLayoutId xmlns:r="http://schemas.openxmlformats.org/officeDocument/2006/relationships" id="2147483661" r:id="Ra9e30ca8a08948a3"/>
    <p:sldLayoutId xmlns:r="http://schemas.openxmlformats.org/officeDocument/2006/relationships" id="2147483662" r:id="Rddb526385ead431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17bf9ff30a4c7b" /><Relationship Type="http://schemas.openxmlformats.org/officeDocument/2006/relationships/image" Target="/ppt/media/image6.png" Id="R5ab82869fb224b51" /><Relationship Type="http://schemas.openxmlformats.org/officeDocument/2006/relationships/image" Target="/ppt/media/image7.png" Id="Rd1740de55cd447da" /><Relationship Type="http://schemas.openxmlformats.org/officeDocument/2006/relationships/image" Target="/ppt/media/image2.jpeg" Id="R7abf4079991a4d1d" /><Relationship Type="http://schemas.openxmlformats.org/officeDocument/2006/relationships/image" Target="/ppt/media/image8.png" Id="Rc80143c18efd4720" /><Relationship Type="http://schemas.openxmlformats.org/officeDocument/2006/relationships/image" Target="/ppt/media/image9.png" Id="R736267cff32542d5" /><Relationship Type="http://schemas.openxmlformats.org/officeDocument/2006/relationships/image" Target="/ppt/media/image10.png" Id="Rb4073b08460b496b" /><Relationship Type="http://schemas.openxmlformats.org/officeDocument/2006/relationships/image" Target="/ppt/media/image3.jpeg" Id="Rd0f0f53546664941" /><Relationship Type="http://schemas.openxmlformats.org/officeDocument/2006/relationships/image" Target="/ppt/media/image4.jpeg" Id="Ra484a9fc67a14fa6" /><Relationship Type="http://schemas.openxmlformats.org/officeDocument/2006/relationships/notesSlide" Target="/ppt/notesSlides/notesSlide1.xml" Id="Rcf305f3e1e3e42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4597eb3e3c41fa" /><Relationship Type="http://schemas.openxmlformats.org/officeDocument/2006/relationships/notesSlide" Target="/ppt/notesSlides/notesSlide2.xml" Id="Rdc69b7f9c28647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B835DAD-D1FA-9A21-60E2-6427484C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182880"/>
            <a:ext cx="88696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400" b="1" i="0">
                <a:solidFill>
                  <a:srgbClr val="7F2D32"/>
                </a:solidFill>
                <a:latin typeface="Arial"/>
                <a:ea typeface="Arial"/>
                <a:cs typeface="Arial"/>
              </a:rPr>
              <a:t>面向关键部件设计的机理约束生成式设计与优化方法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5DC0A7-CEBC-ADA3-BD3C-A6E86D54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941832"/>
            <a:ext cx="4754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400" b="1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研究载体  </a:t>
            </a:r>
            <a:r>
              <a:rPr sz="16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航空起落架轻量化设计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28A89B3-267C-35C6-3567-B2397E7F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941832"/>
            <a:ext cx="1417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</a:pPr>
            <a:r>
              <a:rPr sz="1200" b="1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协同优化目标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E6C1E2D-973A-D4E7-CE1F-42C8C62D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978408"/>
            <a:ext cx="1024128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C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i="0">
                <a:solidFill>
                  <a:srgbClr val="7F2D32"/>
                </a:solidFill>
                <a:latin typeface="Arial"/>
                <a:ea typeface="Arial"/>
                <a:cs typeface="Arial"/>
              </a:rPr>
              <a:t>结构轻量化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5AF0771-C17B-86C1-14DE-099BA456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978408"/>
            <a:ext cx="1024128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C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i="0">
                <a:solidFill>
                  <a:srgbClr val="7F2D32"/>
                </a:solidFill>
                <a:latin typeface="Arial"/>
                <a:ea typeface="Arial"/>
                <a:cs typeface="Arial"/>
              </a:rPr>
              <a:t>强度安全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79C5114-E7C0-18E0-073E-12FB6880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336" y="978408"/>
            <a:ext cx="1024128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C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i="0">
                <a:solidFill>
                  <a:srgbClr val="7F2D32"/>
                </a:solidFill>
                <a:latin typeface="Arial"/>
                <a:ea typeface="Arial"/>
                <a:cs typeface="Arial"/>
              </a:rPr>
              <a:t>疲劳寿命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FFCB3BC-0171-4B10-CA1F-3D5DD4CB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1904" y="978408"/>
            <a:ext cx="1024128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C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i="0">
                <a:solidFill>
                  <a:srgbClr val="7F2D32"/>
                </a:solidFill>
                <a:latin typeface="Arial"/>
                <a:ea typeface="Arial"/>
                <a:cs typeface="Arial"/>
              </a:rPr>
              <a:t>制造约束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7F52F62-6781-D2A7-762E-C4E95652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1554480"/>
            <a:ext cx="3017520" cy="484632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E95EE8F-ACD2-1FDB-6DEB-66D10F57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37360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6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共性难题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E1C97F2-4483-7974-1B5E-73A895F4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86000"/>
            <a:ext cx="365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 i="0">
                <a:solidFill>
                  <a:srgbClr val="7F2D32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E4049C2-BE9F-C99D-FF3C-F0ABC133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286000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真实试验成本高</a:t>
            </a:r>
            <a:endParaRPr sz="1500" b="0" i="0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3AE9DF1-1196-34A2-8E3A-D75BE3D4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52928"/>
            <a:ext cx="365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 i="0">
                <a:solidFill>
                  <a:srgbClr val="7F2D32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A22D111-0D7E-6259-7BA6-73A71952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852928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仿真预算有限</a:t>
            </a:r>
            <a:endParaRPr sz="1500" b="0" i="0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775F6E2-253C-8E9F-1624-93C8DC9A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19856"/>
            <a:ext cx="365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 i="0">
                <a:solidFill>
                  <a:srgbClr val="7F2D32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485E50A-47A2-FDF8-13B5-474F5C7A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419856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设计变量高维耦合</a:t>
            </a:r>
            <a:endParaRPr sz="1500" b="0" i="0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3C79A61-80DC-7831-6E63-E51BAAEB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86784"/>
            <a:ext cx="365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 i="0">
                <a:solidFill>
                  <a:srgbClr val="7F2D32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8110017-17A7-ADE4-83DA-F448174C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986784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物理约束强</a:t>
            </a:r>
            <a:endParaRPr sz="1500" b="0" i="0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90B8B78-2848-625A-6BCE-555307ED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53712"/>
            <a:ext cx="365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 i="0">
                <a:solidFill>
                  <a:srgbClr val="7F2D32"/>
                </a:solidFill>
                <a:latin typeface="Arial"/>
                <a:ea typeface="Arial"/>
                <a:cs typeface="Arial"/>
              </a:rPr>
              <a:t>⑤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D27A4EB-E501-F69C-3764-579EB878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553712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多目标权衡困难</a:t>
            </a:r>
            <a:endParaRPr sz="1500" b="0" i="0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F588D3A-3839-E5C1-ECAF-2E0CBB22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212080"/>
            <a:ext cx="2560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00"/>
              </a:spcAft>
              <a:buNone/>
            </a:pPr>
            <a:r>
              <a:rPr sz="1200" b="1" i="0">
                <a:solidFill>
                  <a:srgbClr val="7F2D32"/>
                </a:solidFill>
                <a:latin typeface="Arial"/>
                <a:ea typeface="Arial"/>
                <a:cs typeface="Arial"/>
              </a:rPr>
              <a:t>核心问题</a:t>
            </a:r>
            <a:endParaRPr sz="1200" b="1" i="0">
              <a:solidFill>
                <a:srgbClr val="7F2D3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3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有限数据下，如何生成满足强物理约束、兼顾多目标的最优部件设计</a:t>
            </a:r>
            <a:endParaRPr sz="1300" b="0" i="0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Chevron 21">
            <a:extLst xmlns:a="http://schemas.openxmlformats.org/drawingml/2006/main">
              <a:ext uri="{FF2B5EF4-FFF2-40B4-BE49-F238E27FC236}">
                <a16:creationId xmlns:a16="http://schemas.microsoft.com/office/drawing/2014/main" id="{FDA60281-A43E-8D91-07A4-53B7A80A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703320"/>
            <a:ext cx="292608" cy="5486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F2D3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FACA75E5-8046-A78A-3A3A-A8CFC41B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554480"/>
            <a:ext cx="3611880" cy="21945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7F2BFFAF-B5ED-B62D-261A-EBDF79CC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164838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2D3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DD597E2-F4BF-96CE-B593-6B770BB2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648382"/>
            <a:ext cx="2788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多源融合数据集</a:t>
            </a:r>
            <a:endParaRPr sz="1500" b="1" i="0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C4E7B273-7466-C178-9A31-5E89BC81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1554480"/>
            <a:ext cx="3611880" cy="21945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C2F7AA48-C8D4-4FA5-6D01-03E96AD8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164826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2D3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909BD10-2675-5E67-4606-EC52F04B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1648261"/>
            <a:ext cx="2788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物理一致性高效代理模型</a:t>
            </a:r>
            <a:endParaRPr sz="1500" b="1" i="0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31A0874E-9FC8-73FB-4476-E35ABCDF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4206240"/>
            <a:ext cx="3611880" cy="21945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50C46B77-86DE-853F-CA82-67C83C4A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3708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2D3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2A370750-8C9C-3C67-9FC9-E7D25AFE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4370832"/>
            <a:ext cx="2788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性能条件生成式逆向设计</a:t>
            </a:r>
            <a:endParaRPr sz="1500" b="1" i="0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2B4377E8-FFF8-B7A4-7249-CC4A7995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206240"/>
            <a:ext cx="3611880" cy="21945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8504A36F-ABD6-4F8D-6AC9-915CC1E7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3251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2D3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43516AEF-4ABC-6715-52C0-B0A0B046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325112"/>
            <a:ext cx="2788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缩比原型制造与力学实验</a:t>
            </a:r>
            <a:endParaRPr sz="1500" b="1" i="0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Connector 42">
            <a:extLst xmlns:a="http://schemas.openxmlformats.org/drawingml/2006/main">
              <a:ext uri="{FF2B5EF4-FFF2-40B4-BE49-F238E27FC236}">
                <a16:creationId xmlns:a16="http://schemas.microsoft.com/office/drawing/2014/main" id="{0D971EE7-E0D4-4706-9112-C4BF32FC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651760"/>
            <a:ext cx="374904" cy="0"/>
          </a:xfrm>
          <a:prstGeom xmlns:a="http://schemas.openxmlformats.org/drawingml/2006/main" prst="line">
            <a:avLst/>
          </a:prstGeom>
          <a:ln xmlns:a="http://schemas.openxmlformats.org/drawingml/2006/main" w="22225">
            <a:solidFill>
              <a:srgbClr val="7F2D32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4" name="Connector 43">
            <a:extLst xmlns:a="http://schemas.openxmlformats.org/drawingml/2006/main">
              <a:ext uri="{FF2B5EF4-FFF2-40B4-BE49-F238E27FC236}">
                <a16:creationId xmlns:a16="http://schemas.microsoft.com/office/drawing/2014/main" id="{049D22EF-C9FF-4194-97EB-1230EA2A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388" y="3803903"/>
            <a:ext cx="0" cy="347473"/>
          </a:xfrm>
          <a:prstGeom xmlns:a="http://schemas.openxmlformats.org/drawingml/2006/main" prst="line">
            <a:avLst/>
          </a:prstGeom>
          <a:ln xmlns:a="http://schemas.openxmlformats.org/drawingml/2006/main" w="22225">
            <a:solidFill>
              <a:srgbClr val="7F2D32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5" name="Connector 44">
            <a:extLst xmlns:a="http://schemas.openxmlformats.org/drawingml/2006/main">
              <a:ext uri="{FF2B5EF4-FFF2-40B4-BE49-F238E27FC236}">
                <a16:creationId xmlns:a16="http://schemas.microsoft.com/office/drawing/2014/main" id="{88414200-DDB0-45DA-A5D1-1EE5967A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708392" y="5303520"/>
            <a:ext cx="374904" cy="0"/>
          </a:xfrm>
          <a:prstGeom xmlns:a="http://schemas.openxmlformats.org/drawingml/2006/main" prst="line">
            <a:avLst/>
          </a:prstGeom>
          <a:ln xmlns:a="http://schemas.openxmlformats.org/drawingml/2006/main" w="22225">
            <a:solidFill>
              <a:srgbClr val="7F2D32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94207F4C-BCAD-45A8-B3DB-638A3B3C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29300" y="3803903"/>
            <a:ext cx="0" cy="347473"/>
          </a:xfrm>
          <a:prstGeom xmlns:a="http://schemas.openxmlformats.org/drawingml/2006/main" prst="line">
            <a:avLst/>
          </a:prstGeom>
          <a:ln xmlns:a="http://schemas.openxmlformats.org/drawingml/2006/main" w="22225">
            <a:solidFill>
              <a:srgbClr val="7F2D32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C5E0DE55-8E27-265A-5876-E6968CBF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028" y="3813048"/>
            <a:ext cx="1280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00" b="1" i="0">
                <a:solidFill>
                  <a:srgbClr val="7F2D32"/>
                </a:solidFill>
                <a:latin typeface="Arial"/>
                <a:ea typeface="Arial"/>
                <a:cs typeface="Arial"/>
              </a:rPr>
              <a:t>数据回灌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8D8F7767-F66D-54BD-A0ED-743814F7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916" y="3794759"/>
            <a:ext cx="1133856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F2D3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闭环迭代</a:t>
            </a:r>
          </a:p>
        </p:txBody>
      </p:sp>
      <p:pic>
        <p:nvPicPr>
          <p:cNvPr id="113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82869fb224b51"/>
          <a:srcRect xmlns:a="http://schemas.openxmlformats.org/drawingml/2006/main" l="17050" t="0" r="57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67371" y="2130172"/>
            <a:ext cx="1739069" cy="1399793"/>
          </a:xfrm>
          <a:prstGeom xmlns:a="http://schemas.openxmlformats.org/drawingml/2006/main" prst="rect">
            <a:avLst/>
          </a:prstGeom>
        </p:spPr>
      </p:pic>
      <p:pic>
        <p:nvPicPr>
          <p:cNvPr id="114" name="图片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40de55cd447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39495" y="2130172"/>
            <a:ext cx="1739069" cy="1399791"/>
          </a:xfrm>
          <a:prstGeom xmlns:a="http://schemas.openxmlformats.org/drawingml/2006/main" prst="rect">
            <a:avLst/>
          </a:prstGeom>
        </p:spPr>
      </p:pic>
      <p:pic>
        <p:nvPicPr>
          <p:cNvPr id="115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bf4079991a4d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1312" y="2123749"/>
            <a:ext cx="1737027" cy="1399791"/>
          </a:xfrm>
          <a:prstGeom xmlns:a="http://schemas.openxmlformats.org/drawingml/2006/main" prst="rect">
            <a:avLst/>
          </a:prstGeom>
        </p:spPr>
      </p:pic>
      <p:pic>
        <p:nvPicPr>
          <p:cNvPr id="116" name="图片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143c18efd47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3203" y="2123749"/>
            <a:ext cx="1737027" cy="1399791"/>
          </a:xfrm>
          <a:prstGeom xmlns:a="http://schemas.openxmlformats.org/drawingml/2006/main" prst="rect">
            <a:avLst/>
          </a:prstGeom>
        </p:spPr>
      </p:pic>
      <p:pic>
        <p:nvPicPr>
          <p:cNvPr id="117" name="图片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267cff32542d5"/>
          <a:srcRect xmlns:a="http://schemas.openxmlformats.org/drawingml/2006/main" l="0" t="51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1312" y="4745254"/>
            <a:ext cx="1737357" cy="1399793"/>
          </a:xfrm>
          <a:prstGeom xmlns:a="http://schemas.openxmlformats.org/drawingml/2006/main" prst="rect">
            <a:avLst/>
          </a:prstGeom>
        </p:spPr>
      </p:pic>
      <p:pic>
        <p:nvPicPr>
          <p:cNvPr id="118" name="图片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73b08460b49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3531" y="4759729"/>
            <a:ext cx="1719644" cy="1385318"/>
          </a:xfrm>
          <a:prstGeom xmlns:a="http://schemas.openxmlformats.org/drawingml/2006/main" prst="rect">
            <a:avLst/>
          </a:prstGeom>
        </p:spPr>
      </p:pic>
      <p:pic>
        <p:nvPicPr>
          <p:cNvPr id="119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0f535466649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5941" y="4745254"/>
            <a:ext cx="1753359" cy="1388366"/>
          </a:xfrm>
          <a:prstGeom xmlns:a="http://schemas.openxmlformats.org/drawingml/2006/main" prst="rect">
            <a:avLst/>
          </a:prstGeom>
        </p:spPr>
      </p:pic>
      <p:pic>
        <p:nvPicPr>
          <p:cNvPr id="120" name="图片 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4a9fc67a14fa6"/>
          <a:srcRect xmlns:a="http://schemas.openxmlformats.org/drawingml/2006/main" l="0" t="7754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62735" y="4733544"/>
            <a:ext cx="1739069" cy="1413101"/>
          </a:xfrm>
          <a:prstGeom xmlns:a="http://schemas.openxmlformats.org/drawingml/2006/main" prst="rect">
            <a:avLst/>
          </a:prstGeom>
        </p:spPr>
      </p:pic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1CB25B46-7755-C1F4-6768-EAAED8F1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090" y="3484658"/>
            <a:ext cx="2885881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262626"/>
                </a:solidFill>
                <a:latin typeface="Arial"/>
                <a:ea typeface="Arial"/>
                <a:cs typeface="Arial"/>
              </a:rPr>
              <a:t>生物观测、仿真与试验融合数据集</a:t>
            </a:r>
            <a:endParaRPr sz="1400"/>
          </a:p>
        </p:txBody>
      </p:sp>
      <p:sp>
        <p:nvSpPr>
          <p:cNvPr id="61" name="文本框 60">
            <a:extLst xmlns:a="http://schemas.openxmlformats.org/drawingml/2006/main">
              <a:ext uri="{FF2B5EF4-FFF2-40B4-BE49-F238E27FC236}">
                <a16:creationId xmlns:a16="http://schemas.microsoft.com/office/drawing/2014/main" id="{5043415C-3101-B25A-7791-94A319F1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735" y="3451646"/>
            <a:ext cx="2885881" cy="3123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600"/>
              </a:spcAft>
              <a:buClr>
                <a:srgbClr val="7F2D32"/>
              </a:buClr>
              <a:buNone/>
            </a:pPr>
            <a:r>
              <a:rPr sz="1400">
                <a:solidFill>
                  <a:srgbClr val="262626"/>
                </a:solidFill>
                <a:latin typeface="Arial"/>
                <a:ea typeface="Arial"/>
                <a:cs typeface="Arial"/>
              </a:rPr>
              <a:t>有限仿真预算下关键性能快速预测</a:t>
            </a:r>
          </a:p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F87EF433-B135-48E7-55EF-0BF39AE0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6098298"/>
            <a:ext cx="2885881" cy="3123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600"/>
              </a:spcAft>
              <a:buClr>
                <a:srgbClr val="7F2D32"/>
              </a:buClr>
              <a:buNone/>
            </a:pPr>
            <a:r>
              <a:rPr sz="1400">
                <a:solidFill>
                  <a:srgbClr val="262626"/>
                </a:solidFill>
                <a:latin typeface="Arial"/>
                <a:ea typeface="Arial"/>
                <a:cs typeface="Arial"/>
              </a:rPr>
              <a:t>缩比原型制造与实测结果回灌</a:t>
            </a:r>
          </a:p>
        </p:txBody>
      </p:sp>
      <p:sp>
        <p:nvSpPr>
          <p:cNvPr id="65" name="文本框 64">
            <a:extLst xmlns:a="http://schemas.openxmlformats.org/drawingml/2006/main">
              <a:ext uri="{FF2B5EF4-FFF2-40B4-BE49-F238E27FC236}">
                <a16:creationId xmlns:a16="http://schemas.microsoft.com/office/drawing/2014/main" id="{CBEEFC5A-DE65-E349-81C0-F2487D11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9447" y="6112068"/>
            <a:ext cx="2885881" cy="326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600"/>
              </a:spcAft>
              <a:buClr>
                <a:srgbClr val="7F2D32"/>
              </a:buClr>
              <a:buNone/>
            </a:pPr>
            <a:r>
              <a:rPr sz="1400">
                <a:solidFill>
                  <a:srgbClr val="262626"/>
                </a:solidFill>
                <a:latin typeface="Arial"/>
                <a:ea typeface="Arial"/>
                <a:cs typeface="Arial"/>
              </a:rPr>
              <a:t>目标性能条件生成与约束筛选</a:t>
            </a:r>
          </a:p>
        </p:txBody>
      </p:sp>
    </p:spTree>
    <p:extLst>
      <p:ext uri="{BB962C8B-B14F-4D97-AF65-F5344CB8AC3E}">
        <p14:creationId xmlns:p14="http://schemas.microsoft.com/office/powerpoint/2010/main" val="8140302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E96FD9D-FDB0-4CF2-A89B-4B078910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182880"/>
            <a:ext cx="88696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400" b="1" i="0">
                <a:solidFill>
                  <a:srgbClr val="7F2D32"/>
                </a:solidFill>
                <a:latin typeface="Arial"/>
                <a:ea typeface="Arial"/>
                <a:cs typeface="Arial"/>
              </a:rPr>
              <a:t>因果干预驱动的有限数据设计闭环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BC375-FC07-41AE-94EE-39EE402E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观察数据</a:t>
            </a:r>
            <a:r>
              <a:rPr sz="187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提供设计先验，</a:t>
            </a:r>
            <a:r>
              <a:rPr sz="187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受控干预</a:t>
            </a:r>
            <a:r>
              <a:rPr sz="187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识别可控效应，原型试验校准真实偏差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D39E2-8264-466E-B340-2A2006D9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266700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11430">
            <a:solidFill>
              <a:srgbClr val="D7D7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54135-0B19-4481-A56C-46C8F20B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546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D5C10-40C6-4E8E-B1B4-D712C8B0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2877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数据融合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3B337-EAC8-456B-9854-830DE3BD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324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观察数据  </a:t>
            </a:r>
          </a:p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水鸟形态、着陆视频与历史记录</a:t>
            </a:r>
          </a:p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得到  </a:t>
            </a: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相关关系  P(Y|X)</a:t>
            </a:r>
          </a:p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干预数据  </a:t>
            </a:r>
          </a:p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有限元扫描与受控缩比试验</a:t>
            </a:r>
          </a:p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得到  </a:t>
            </a: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因果效应  P(Y|do(X))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22DA1-7F6F-4D7B-A758-AC564AC8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66850"/>
            <a:ext cx="266700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D7D7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D550A-C870-4576-8144-BD65AEE6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287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03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4DD27-EADE-48B3-B161-772FA6A0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2877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因果代理模型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B95DB-A2E1-4A0A-80B7-1A32D5CE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14550"/>
            <a:ext cx="2324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结构  </a:t>
            </a: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设计变量 X、机理状态 M、性能响应 Y 分层建模</a:t>
            </a:r>
          </a:p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工况  </a:t>
            </a: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冲击、静载与载荷谱作为条件输入</a:t>
            </a:r>
          </a:p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采样  </a:t>
            </a: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按预测不确定性与干预价值选择下一次高保真仿真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1EB4E-D918-4B2C-962D-F2EB43AF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266700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5E9EA"/>
          </a:solidFill>
          <a:ln xmlns:a="http://schemas.openxmlformats.org/drawingml/2006/main" w="11430">
            <a:solidFill>
              <a:srgbClr val="D7D7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4F943-A817-4432-A2E6-7C1F9232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287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03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8CE0E-A989-4C0E-8B32-D20727AD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2877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条件逆向生成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64F3E-B691-4592-BE27-F00E31C8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2324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输入  </a:t>
            </a: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目标重量、强度与疲劳寿命</a:t>
            </a:r>
          </a:p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输出  </a:t>
            </a: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几何、壁厚、材料、刚度与阻尼候选</a:t>
            </a:r>
          </a:p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筛选  </a:t>
            </a: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知识图谱规则与科学神经网络嵌入物理、制造约束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69E55-AB4F-40B0-896E-139E300C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66850"/>
            <a:ext cx="266700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D7D7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E21C4-C27B-4002-8A73-90CEBF18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287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03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9B822-DD66-455B-8508-4CCB9020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2877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原型验证与回灌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12F9B-B955-4E46-8540-474ACEE3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14550"/>
            <a:ext cx="2324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9324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控制变量  </a:t>
            </a: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制造关键参数不同的缩比原型</a:t>
            </a:r>
          </a:p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检验  </a:t>
            </a: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代理模型预测的性能增量</a:t>
            </a:r>
          </a:p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回灌  </a:t>
            </a: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校准仿真偏差与模型不确定性</a:t>
            </a:r>
          </a:p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迁移  </a:t>
            </a: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依据相似律验证全尺寸设计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F377B-6EE7-45E7-BD3F-A77CE1E9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098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303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10D511-0D29-4119-9DD4-1E79F5D5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098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303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5CE4DC-9066-4CA5-A5D7-66616BAB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098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303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E941C8-F900-45E6-85A1-7824645D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29075"/>
            <a:ext cx="99822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5E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E30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8E3034"/>
                </a:solidFill>
                <a:latin typeface="微软雅黑"/>
                <a:ea typeface="微软雅黑"/>
                <a:cs typeface="微软雅黑"/>
              </a:rPr>
              <a:t>验证偏差回灌数据集与代理模型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4AC1CA-C63D-4120-B1C9-E090CFD1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29125"/>
            <a:ext cx="1123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28575" rIns="38100" bIns="28575" anchor="ctr">
            <a:normAutofit fontScale="9294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FFY 中的具体落点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888563-EF0C-4B98-80F7-B366A6DD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48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546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C73112-2428-4AEB-921D-014D23C6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546E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42546E"/>
                </a:solidFill>
                <a:latin typeface="微软雅黑"/>
                <a:ea typeface="微软雅黑"/>
                <a:cs typeface="微软雅黑"/>
              </a:rPr>
              <a:t>观察规律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53CD69-F7ED-4300-B2D6-CFFAC0CD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017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水鸟腿长、比例与体重和着陆姿态的关联</a:t>
            </a:r>
          </a:p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用于限定仿生先验与搜索范围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95B4E7-2707-4089-BFCE-6709E050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48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03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D8BF62-5253-413A-A797-0612C647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10125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E3034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8E3034"/>
                </a:solidFill>
                <a:latin typeface="微软雅黑"/>
                <a:ea typeface="微软雅黑"/>
                <a:cs typeface="微软雅黑"/>
              </a:rPr>
              <a:t>受控干预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45D6BB-BC22-48A7-9679-EDA486D0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1017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固定质量、速度与地面条件</a:t>
            </a:r>
          </a:p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主动改变腿长比、刚度和阻尼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B31348-DB44-48ED-BEFA-9329B1D2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48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252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DC925C-497D-4CF7-A4EB-15112DB3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10125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6252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762529"/>
                </a:solidFill>
                <a:latin typeface="微软雅黑"/>
                <a:ea typeface="微软雅黑"/>
                <a:cs typeface="微软雅黑"/>
              </a:rPr>
              <a:t>物理判官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811E33-FA9D-43B6-BACD-B9416C8D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1017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Exudyn、有限元与缩比原型比较</a:t>
            </a:r>
          </a:p>
          <a:p xmlns:a="http://schemas.openxmlformats.org/drawingml/2006/main">
            <a:pPr algn="l">
              <a:def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82828"/>
                </a:solidFill>
                <a:latin typeface="微软雅黑"/>
                <a:ea typeface="微软雅黑"/>
                <a:cs typeface="微软雅黑"/>
              </a:rPr>
              <a:t>峰值过载、行程、质量与寿命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6E512F-48C3-4874-9B90-76D9686C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38700"/>
            <a:ext cx="0" cy="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D7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883DC9-5116-4443-AA2B-786A249E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0" cy="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D7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7D6D45-E5B4-4C70-A357-CA642C07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000750"/>
            <a:ext cx="1133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8E303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生物数据</a:t>
            </a:r>
            <a:r>
              <a:rPr sz="172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缩小搜索空间，</a:t>
            </a: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受控仿真</a:t>
            </a:r>
            <a:r>
              <a:rPr sz="172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识别工程因果，</a:t>
            </a: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物理试验</a:t>
            </a:r>
            <a:r>
              <a:rPr sz="172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完成真实验证</a:t>
            </a:r>
          </a:p>
        </p:txBody>
      </p:sp>
    </p:spTree>
    <p:extLst>
      <p:ext uri="{BB962C8B-B14F-4D97-AF65-F5344CB8AC3E}">
        <p14:creationId xmlns:p14="http://schemas.microsoft.com/office/powerpoint/2010/main" val="73594038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2026-09-27T02:30:57.5330000Z</dcterms:created>
  <dcterms:modified xsi:type="dcterms:W3CDTF">2026-09-27T02:30:57.5330000Z</dcterms:modified>
</coreProperties>
</file>