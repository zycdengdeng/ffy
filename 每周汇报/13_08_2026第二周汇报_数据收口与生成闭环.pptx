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315" r:id="rId3"/>
    <p:sldId id="325" r:id="rId4"/>
    <p:sldId id="317" r:id="rId5"/>
    <p:sldId id="318" r:id="rId6"/>
    <p:sldId id="312" r:id="rId7"/>
    <p:sldId id="326" r:id="rId8"/>
    <p:sldId id="320" r:id="rId9"/>
    <p:sldId id="327" r:id="rId10"/>
    <p:sldId id="329" r:id="rId11"/>
    <p:sldId id="330" r:id="rId12"/>
    <p:sldId id="331" r:id="rId13"/>
    <p:sldId id="328" r:id="rId14"/>
    <p:sldId id="324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0" clrIdx="0"/>
  <p:cmAuthor id="2" name="黄 绮梦" initials="黄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4D9B"/>
    <a:srgbClr val="7F2D32"/>
    <a:srgbClr val="FCECE1"/>
    <a:srgbClr val="BDD8EC"/>
    <a:srgbClr val="9E3436"/>
    <a:srgbClr val="FED897"/>
    <a:srgbClr val="FFEFD9"/>
    <a:srgbClr val="FFE8C4"/>
    <a:srgbClr val="FDB8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8" autoAdjust="0"/>
    <p:restoredTop sz="70079" autoAdjust="0"/>
  </p:normalViewPr>
  <p:slideViewPr>
    <p:cSldViewPr snapToGrid="0">
      <p:cViewPr varScale="1">
        <p:scale>
          <a:sx n="67" d="100"/>
          <a:sy n="67" d="100"/>
        </p:scale>
        <p:origin x="173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不同鸟类可以分析，按照体重，速度分析，因为飞机也是这样的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铆钉自己在鸟类的那个着陆阶段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想办法美化定性自己那里是来自仿生学，哪里来自工程需求和现实物理先验，给工作上上价值。读点仿生学论文。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怎么解释这个工作的意义和价值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关节只有五种鸟类，怎么和</a:t>
            </a:r>
            <a:r>
              <a:rPr lang="en-US" altLang="zh-CN" dirty="0"/>
              <a:t>214</a:t>
            </a:r>
            <a:r>
              <a:rPr lang="zh-CN" altLang="en-US" dirty="0"/>
              <a:t>做关联？速度和质量分类是不是不够精细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先给地图。左列各一句带过(细节在后页),右列是今天的重点。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回应“数据来源”质疑:三参数不再依赖内部标注;顺带完成 214 种标度律验证(6.6)。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多指标不是堆数量:讲清哪些指标独立、哪些共线,以及天鹅策略画像的两分结构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分节页:接下来 5 页是本周主菜。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214</a:t>
            </a:r>
            <a:r>
              <a:rPr lang="zh-CN" altLang="en-US" dirty="0"/>
              <a:t>鸟类每个类别的数量，和具体鸟类和飞机的对比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99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重点讲趋势:维度越高,逐工况优化越无力、生成式越值钱——论文主张的两个数据点。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367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5251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讲两次修正:起点 90→71,r12 平反。落点:分布视角是实验纪律的核心,曲线在 r11 穿越 BO 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收尾:两条线都闭合;下一步排期明确,与课题组前期工作的衔接点在预判式控制。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背景图案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000" cy="6915059"/>
          </a:xfrm>
          <a:prstGeom prst="rect">
            <a:avLst/>
          </a:prstGeom>
        </p:spPr>
      </p:pic>
      <p:pic>
        <p:nvPicPr>
          <p:cNvPr id="10" name="图片 9" descr="文本&#10;&#10;AI 生成的内容可能不正确。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58" y="110373"/>
            <a:ext cx="3749048" cy="67056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3" name="图片 12" descr="图片包含 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163" y="196850"/>
            <a:ext cx="2632075" cy="4699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430870" y="766233"/>
            <a:ext cx="11390528" cy="9736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/>
              </a:gs>
            </a:gsLst>
            <a:lin ang="0" scaled="0"/>
            <a:tileRect/>
          </a:gra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51732"/>
            <a:ext cx="12175128" cy="6909731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51732"/>
            <a:ext cx="12175128" cy="6909731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文本&#10;&#10;AI 生成的内容可能不正确。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85" y="6224270"/>
            <a:ext cx="3061970" cy="5480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51732"/>
            <a:ext cx="12175128" cy="6909731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9525" y="3937000"/>
            <a:ext cx="12230735" cy="2960370"/>
          </a:xfrm>
          <a:prstGeom prst="rect">
            <a:avLst/>
          </a:prstGeom>
          <a:solidFill>
            <a:srgbClr val="7F2D32"/>
          </a:soli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8" tIns="45718" rIns="45718" bIns="45718" numCol="1" spcCol="38100" rtlCol="0" anchor="ctr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pic>
        <p:nvPicPr>
          <p:cNvPr id="11" name="图片 10" descr="文本&#10;&#10;AI 生成的内容可能不正确。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85" y="6224270"/>
            <a:ext cx="3061970" cy="54800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430870" y="766233"/>
            <a:ext cx="11390528" cy="9736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/>
              </a:gs>
            </a:gsLst>
            <a:lin ang="0" scaled="0"/>
            <a:tileRect/>
          </a:gra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51732"/>
            <a:ext cx="12175128" cy="6909731"/>
          </a:xfrm>
          <a:prstGeom prst="rect">
            <a:avLst/>
          </a:prstGeom>
          <a:blipFill dpi="0" rotWithShape="1">
            <a:blip r:embed="rId3">
              <a:alphaModFix amt="35000"/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图片包含 文本&#10;&#10;AI 生成的内容可能不正确。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8163" y="196850"/>
            <a:ext cx="2632075" cy="4699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430870" y="766233"/>
            <a:ext cx="11390528" cy="9736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/>
              </a:gs>
            </a:gsLst>
            <a:lin ang="0" scaled="0"/>
            <a:tileRect/>
          </a:gradFill>
          <a:ln w="25400" cap="flat">
            <a:noFill/>
            <a:prstDash val="solid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GB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37D93-D8B7-4382-889F-631268653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37D93-D8B7-4382-889F-631268653D75}" type="datetimeFigureOut">
              <a:rPr lang="zh-CN" altLang="en-US" smtClean="0"/>
              <a:t>2026/8/14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A7DEB-D25E-46AD-993C-EB337E1F79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331720"/>
            <a:ext cx="10058400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dirty="0" err="1">
                <a:solidFill>
                  <a:srgbClr val="FFFFFF"/>
                </a:solidFill>
                <a:latin typeface="Microsoft YaHei"/>
              </a:rPr>
              <a:t>仿生起落架生成式设计</a:t>
            </a:r>
            <a:r>
              <a:rPr sz="3400" b="1" dirty="0">
                <a:solidFill>
                  <a:srgbClr val="FFFFFF"/>
                </a:solidFill>
                <a:latin typeface="Microsoft YaHei"/>
              </a:rPr>
              <a:t> · </a:t>
            </a:r>
            <a:r>
              <a:rPr lang="zh-CN" altLang="en-US" sz="3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</a:t>
            </a:r>
            <a:r>
              <a:rPr sz="3400" b="1" dirty="0" err="1">
                <a:solidFill>
                  <a:srgbClr val="FFFFFF"/>
                </a:solidFill>
                <a:latin typeface="Microsoft YaHei"/>
              </a:rPr>
              <a:t>周进展</a:t>
            </a:r>
            <a:endParaRPr sz="34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49680" y="4542183"/>
            <a:ext cx="100584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dirty="0" err="1">
                <a:solidFill>
                  <a:srgbClr val="FFFFFF"/>
                </a:solidFill>
                <a:latin typeface="Microsoft YaHei"/>
              </a:rPr>
              <a:t>数据基座重置</a:t>
            </a:r>
            <a:r>
              <a:rPr sz="1700" b="0" dirty="0">
                <a:solidFill>
                  <a:srgbClr val="FFFFFF"/>
                </a:solidFill>
                <a:latin typeface="Microsoft YaHei"/>
              </a:rPr>
              <a:t>  +  </a:t>
            </a:r>
            <a:r>
              <a:rPr sz="1700" b="0" dirty="0" err="1">
                <a:solidFill>
                  <a:srgbClr val="FFFFFF"/>
                </a:solidFill>
                <a:latin typeface="Microsoft YaHei"/>
              </a:rPr>
              <a:t>条件生成闭环</a:t>
            </a:r>
            <a:r>
              <a:rPr sz="1700" b="0" dirty="0">
                <a:solidFill>
                  <a:srgbClr val="FFFFFF"/>
                </a:solidFill>
                <a:latin typeface="Microsoft YaHei"/>
              </a:rPr>
              <a:t>(E1–E5c)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lang="zh-CN" altLang="en-US" sz="1400" dirty="0">
                <a:solidFill>
                  <a:srgbClr val="DFC8CA"/>
                </a:solidFill>
                <a:latin typeface="微软雅黑"/>
                <a:ea typeface="微软雅黑"/>
              </a:rPr>
              <a:t> 王子晗   </a:t>
            </a:r>
            <a:r>
              <a:rPr lang="en-US" altLang="zh-CN" sz="1400" dirty="0">
                <a:solidFill>
                  <a:srgbClr val="DFC8CA"/>
                </a:solidFill>
                <a:latin typeface="微软雅黑"/>
                <a:ea typeface="微软雅黑"/>
              </a:rPr>
              <a:t>·   </a:t>
            </a:r>
            <a:r>
              <a:rPr lang="zh-CN" altLang="en-US" sz="1400" dirty="0">
                <a:solidFill>
                  <a:srgbClr val="DFC8CA"/>
                </a:solidFill>
                <a:latin typeface="微软雅黑"/>
                <a:ea typeface="微软雅黑"/>
              </a:rPr>
              <a:t>导师：赵一帆   </a:t>
            </a:r>
            <a:r>
              <a:rPr lang="en-US" altLang="zh-CN" sz="1400" dirty="0">
                <a:solidFill>
                  <a:srgbClr val="DFC8CA"/>
                </a:solidFill>
                <a:latin typeface="微软雅黑"/>
                <a:ea typeface="微软雅黑"/>
              </a:rPr>
              <a:t>·   2026-08-08</a:t>
            </a:r>
            <a:endParaRPr lang="zh-CN" altLang="en-US" sz="1400" dirty="0">
              <a:solidFill>
                <a:srgbClr val="DFC8C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5097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dirty="0" err="1">
                <a:solidFill>
                  <a:srgbClr val="8E2A34"/>
                </a:solidFill>
                <a:latin typeface="Microsoft YaHei"/>
              </a:rPr>
              <a:t>本周工作总览:两条线</a:t>
            </a:r>
            <a:endParaRPr sz="2400" b="1" dirty="0">
              <a:solidFill>
                <a:srgbClr val="8E2A34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777777"/>
                </a:solidFill>
                <a:latin typeface="Microsoft YaHei"/>
              </a:rPr>
              <a:t>左:数据与验证收口(铺垫) | 右:条件生成闭环(主菜)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39496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dirty="0">
                <a:solidFill>
                  <a:srgbClr val="3A6E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zh-CN" altLang="en-US" sz="1700" b="1" dirty="0">
                <a:solidFill>
                  <a:srgbClr val="3A6E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数据来源</a:t>
            </a:r>
            <a:r>
              <a:rPr sz="1700" b="1" dirty="0" err="1">
                <a:solidFill>
                  <a:srgbClr val="3A6E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严谨性收口</a:t>
            </a:r>
            <a:endParaRPr sz="1700" b="1" dirty="0">
              <a:solidFill>
                <a:srgbClr val="3A6E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394960" cy="11387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sz="1600" b="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设计参数</a:t>
            </a:r>
            <a:r>
              <a:rPr lang="zh-CN" altLang="en-US" sz="16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基本全部</a:t>
            </a:r>
            <a:r>
              <a:rPr sz="1600" b="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换成公开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数据集中的生物先验</a:t>
            </a:r>
            <a:endParaRPr lang="en-US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en-US" sz="1600" b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sz="1600" b="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落震多指标体系</a:t>
            </a:r>
            <a:r>
              <a:rPr sz="16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sz="1600" b="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缓冲效率η</a:t>
            </a:r>
            <a:r>
              <a:rPr sz="16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/CFE/jerk/</a:t>
            </a:r>
            <a:r>
              <a:rPr sz="1600" b="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回弹</a:t>
            </a:r>
            <a:r>
              <a:rPr sz="16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b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，改变了之前仅有峰值加速度一个指标的情况。</a:t>
            </a:r>
            <a:endParaRPr sz="1600" b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63640" y="12344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dirty="0">
                <a:solidFill>
                  <a:srgbClr val="8E2A34"/>
                </a:solidFill>
                <a:latin typeface="Microsoft YaHei"/>
              </a:rPr>
              <a:t>② </a:t>
            </a:r>
            <a:r>
              <a:rPr sz="1700" b="1" dirty="0" err="1">
                <a:solidFill>
                  <a:srgbClr val="8E2A34"/>
                </a:solidFill>
                <a:latin typeface="Microsoft YaHei"/>
              </a:rPr>
              <a:t>生成线</a:t>
            </a:r>
            <a:r>
              <a:rPr sz="1700" b="1" dirty="0">
                <a:solidFill>
                  <a:srgbClr val="8E2A34"/>
                </a:solidFill>
                <a:latin typeface="Microsoft YaHei"/>
              </a:rPr>
              <a:t>(E1–E5c)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91640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设计了一个生成和验证同时在环的架构</a:t>
            </a:r>
            <a:endParaRPr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0152" y="3654610"/>
            <a:ext cx="347472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3000" b="1" dirty="0">
                <a:solidFill>
                  <a:srgbClr val="8E2A34"/>
                </a:solidFill>
                <a:latin typeface="Microsoft YaHei"/>
              </a:rPr>
              <a:t>192</a:t>
            </a:r>
            <a:r>
              <a:rPr sz="3000" b="1" dirty="0">
                <a:solidFill>
                  <a:srgbClr val="8E2A34"/>
                </a:solidFill>
                <a:latin typeface="Microsoft YaHei"/>
              </a:rPr>
              <a:t> 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152" y="4358698"/>
            <a:ext cx="38404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zh-CN" sz="1200" dirty="0">
                <a:solidFill>
                  <a:srgbClr val="777777"/>
                </a:solidFill>
                <a:latin typeface="Microsoft YaHei"/>
              </a:rPr>
              <a:t>实测物种划定设计空间(AVONET 101 + Watanabe 91)</a:t>
            </a:r>
            <a:endParaRPr sz="1200" b="0" dirty="0">
              <a:solidFill>
                <a:srgbClr val="777777"/>
              </a:solidFill>
              <a:latin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10632" y="3654610"/>
            <a:ext cx="347472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3000" b="1" dirty="0">
                <a:solidFill>
                  <a:srgbClr val="8E2A34"/>
                </a:solidFill>
                <a:latin typeface="Microsoft YaHei"/>
              </a:rPr>
              <a:t>&gt; 40</a:t>
            </a:r>
            <a:r>
              <a:rPr sz="3000" b="1" dirty="0">
                <a:solidFill>
                  <a:srgbClr val="8E2A34"/>
                </a:solidFill>
                <a:latin typeface="Microsoft YaHei"/>
              </a:rPr>
              <a:t> </a:t>
            </a:r>
            <a:r>
              <a:rPr sz="3000" b="1" dirty="0" err="1">
                <a:solidFill>
                  <a:srgbClr val="8E2A34"/>
                </a:solidFill>
                <a:latin typeface="Microsoft YaHei"/>
              </a:rPr>
              <a:t>万次</a:t>
            </a:r>
            <a:endParaRPr sz="3000" b="1" dirty="0">
              <a:solidFill>
                <a:srgbClr val="8E2A34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10632" y="4358698"/>
            <a:ext cx="34747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dirty="0" err="1">
                <a:solidFill>
                  <a:srgbClr val="777777"/>
                </a:solidFill>
                <a:latin typeface="Microsoft YaHei"/>
              </a:rPr>
              <a:t>落震仿真</a:t>
            </a:r>
            <a:endParaRPr sz="1200" b="0" dirty="0">
              <a:solidFill>
                <a:srgbClr val="777777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51112" y="3654610"/>
            <a:ext cx="347472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000" b="1" dirty="0">
                <a:solidFill>
                  <a:srgbClr val="8E2A34"/>
                </a:solidFill>
                <a:latin typeface="Microsoft YaHei"/>
              </a:rPr>
              <a:t>&lt;20</a:t>
            </a:r>
            <a:r>
              <a:rPr sz="3000" b="1" dirty="0">
                <a:solidFill>
                  <a:srgbClr val="8E2A34"/>
                </a:solidFill>
                <a:latin typeface="Microsoft YaHei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1112" y="435869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dirty="0" err="1">
                <a:solidFill>
                  <a:srgbClr val="777777"/>
                </a:solidFill>
                <a:latin typeface="Microsoft YaHei"/>
              </a:rPr>
              <a:t>零仿真部署差距</a:t>
            </a:r>
            <a:r>
              <a:rPr sz="1200" b="0" dirty="0">
                <a:solidFill>
                  <a:srgbClr val="777777"/>
                </a:solidFill>
                <a:latin typeface="Microsoft YaHei"/>
              </a:rPr>
              <a:t>(</a:t>
            </a:r>
            <a:r>
              <a:rPr sz="1200" b="0" dirty="0" err="1">
                <a:solidFill>
                  <a:srgbClr val="777777"/>
                </a:solidFill>
                <a:latin typeface="Microsoft YaHei"/>
              </a:rPr>
              <a:t>零崩盘</a:t>
            </a:r>
            <a:r>
              <a:rPr sz="1200" b="0" dirty="0">
                <a:solidFill>
                  <a:srgbClr val="777777"/>
                </a:solidFill>
                <a:latin typeface="Microsoft YaHei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600" y="5844802"/>
            <a:ext cx="987055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跑通了第一版的 学习 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 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 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 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再生成 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 的循环轮</a:t>
            </a:r>
            <a:endParaRPr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F27C786-9F57-437D-28B0-0CDE8007FA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05" r="3032"/>
          <a:stretch>
            <a:fillRect/>
          </a:stretch>
        </p:blipFill>
        <p:spPr>
          <a:xfrm>
            <a:off x="10369827" y="5623560"/>
            <a:ext cx="748747" cy="7761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A587DF0F-DC02-7DEA-ED9D-D88F13F9D0D9}"/>
              </a:ext>
            </a:extLst>
          </p:cNvPr>
          <p:cNvSpPr txBox="1"/>
          <p:nvPr/>
        </p:nvSpPr>
        <p:spPr>
          <a:xfrm>
            <a:off x="502920" y="274320"/>
            <a:ext cx="9509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400" b="1" dirty="0">
                <a:solidFill>
                  <a:srgbClr val="8E2A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数据来源</a:t>
            </a:r>
            <a:endParaRPr sz="2400" b="1" dirty="0">
              <a:solidFill>
                <a:srgbClr val="8E2A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5B4056-A0BB-9F7E-DCAA-4DE5D0AE717A}"/>
              </a:ext>
            </a:extLst>
          </p:cNvPr>
          <p:cNvSpPr txBox="1"/>
          <p:nvPr/>
        </p:nvSpPr>
        <p:spPr>
          <a:xfrm>
            <a:off x="847153" y="1043702"/>
            <a:ext cx="10900611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zh-CN" b="1" dirty="0"/>
              <a:t>AVONET</a:t>
            </a:r>
            <a:r>
              <a:rPr lang="zh-CN" altLang="zh-CN" dirty="0"/>
              <a:t>(Tobias et al. 2022, </a:t>
            </a:r>
            <a:r>
              <a:rPr lang="zh-CN" altLang="zh-CN" i="1" dirty="0"/>
              <a:t>Ecology Letters</a:t>
            </a:r>
            <a:r>
              <a:rPr lang="zh-CN" altLang="zh-CN" dirty="0"/>
              <a:t>)</a:t>
            </a:r>
            <a:r>
              <a:rPr lang="en-US" altLang="zh-CN" dirty="0"/>
              <a:t> </a:t>
            </a:r>
            <a:r>
              <a:rPr lang="en-US" altLang="zh-CN" sz="1400" dirty="0"/>
              <a:t>  </a:t>
            </a:r>
          </a:p>
          <a:p>
            <a:r>
              <a:rPr lang="en-US" altLang="zh-CN" sz="1400" dirty="0"/>
              <a:t>     </a:t>
            </a:r>
            <a:r>
              <a:rPr lang="zh-CN" altLang="en-US" sz="1400" dirty="0"/>
              <a:t>一个全球鸟类形态功能是数据库，</a:t>
            </a:r>
            <a:r>
              <a:rPr lang="zh-CN" altLang="zh-CN" sz="1400" dirty="0"/>
              <a:t>博物馆皮张标本上用卡尺和直尺实测,</a:t>
            </a:r>
            <a:r>
              <a:rPr lang="zh-CN" altLang="zh-CN" sz="1400" b="1" dirty="0"/>
              <a:t>约 9 万条标本级记录、覆盖全球约 1.1 万种鸟</a:t>
            </a:r>
            <a:r>
              <a:rPr lang="zh-CN" altLang="zh-CN" sz="1400" dirty="0"/>
              <a:t>(几乎全部现生种);每只测 11 项外部形态:喙长/宽/厚、翅长、尾长、</a:t>
            </a:r>
            <a:r>
              <a:rPr lang="zh-CN" altLang="zh-CN" sz="1400" b="1" dirty="0">
                <a:solidFill>
                  <a:srgbClr val="C00000"/>
                </a:solidFill>
              </a:rPr>
              <a:t>跗跖骨长</a:t>
            </a:r>
            <a:r>
              <a:rPr lang="zh-CN" altLang="zh-CN" sz="1400" dirty="0"/>
              <a:t>等。开放获取,鸟类学近年最大的形态数据集;</a:t>
            </a:r>
            <a:r>
              <a:rPr lang="en-US" altLang="zh-CN" sz="1400" dirty="0"/>
              <a:t> </a:t>
            </a:r>
          </a:p>
          <a:p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zh-CN" b="1" dirty="0"/>
              <a:t>Watanabe 2017</a:t>
            </a:r>
            <a:r>
              <a:rPr lang="zh-CN" altLang="zh-CN" dirty="0"/>
              <a:t>(</a:t>
            </a:r>
            <a:r>
              <a:rPr lang="zh-CN" altLang="zh-CN" i="1" dirty="0"/>
              <a:t>The Auk</a:t>
            </a:r>
            <a:r>
              <a:rPr lang="zh-CN" altLang="zh-CN" dirty="0"/>
              <a:t> 134:672,开放获取)</a:t>
            </a:r>
            <a:r>
              <a:rPr lang="en-US" altLang="zh-CN" dirty="0"/>
              <a:t>   </a:t>
            </a:r>
          </a:p>
          <a:p>
            <a:r>
              <a:rPr lang="en-US" altLang="zh-CN" sz="1400" dirty="0"/>
              <a:t>     </a:t>
            </a:r>
            <a:r>
              <a:rPr lang="zh-CN" altLang="zh-CN" sz="1400" dirty="0"/>
              <a:t>腿部三段骨长,</a:t>
            </a:r>
            <a:r>
              <a:rPr lang="zh-CN" altLang="zh-CN" sz="1400" b="1" dirty="0"/>
              <a:t>91 种</a:t>
            </a:r>
            <a:r>
              <a:rPr lang="zh-CN" altLang="zh-CN" sz="1400" dirty="0"/>
              <a:t>三骨齐全的会飞种 </a:t>
            </a:r>
            <a:r>
              <a:rPr lang="zh-CN" altLang="en-US" sz="1400" dirty="0"/>
              <a:t>。通过它</a:t>
            </a:r>
            <a:r>
              <a:rPr lang="zh-CN" altLang="zh-CN" sz="1400" dirty="0"/>
              <a:t>算出</a:t>
            </a:r>
            <a:r>
              <a:rPr lang="zh-CN" altLang="zh-CN" sz="1400" b="1" dirty="0">
                <a:solidFill>
                  <a:srgbClr val="C00000"/>
                </a:solidFill>
              </a:rPr>
              <a:t>两个</a:t>
            </a:r>
            <a:r>
              <a:rPr lang="zh-CN" altLang="en-US" sz="1400" b="1" dirty="0">
                <a:solidFill>
                  <a:srgbClr val="C00000"/>
                </a:solidFill>
              </a:rPr>
              <a:t>腿关节</a:t>
            </a:r>
            <a:r>
              <a:rPr lang="zh-CN" altLang="zh-CN" sz="1400" b="1" dirty="0">
                <a:solidFill>
                  <a:srgbClr val="C00000"/>
                </a:solidFill>
              </a:rPr>
              <a:t>比例的</a:t>
            </a:r>
            <a:r>
              <a:rPr lang="zh-CN" altLang="en-US" sz="1400" b="1" dirty="0">
                <a:solidFill>
                  <a:srgbClr val="C00000"/>
                </a:solidFill>
              </a:rPr>
              <a:t>生物实例范围</a:t>
            </a:r>
            <a:r>
              <a:rPr lang="zh-CN" altLang="zh-CN" sz="1400" dirty="0"/>
              <a:t>:r2=TIB/TMT ∈ 1.49–2.09、r3=FEM/TMT ∈ 0.84–1.28,定出设计空间另外两维;顺带独立核验课题组前期的天鹅参数(偏差 2–7%)。</a:t>
            </a:r>
            <a:endParaRPr lang="en-US" altLang="zh-CN" sz="1400" dirty="0"/>
          </a:p>
          <a:p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zh-CN" b="1" dirty="0"/>
              <a:t>EltonTraits 1.0</a:t>
            </a:r>
            <a:r>
              <a:rPr lang="zh-CN" altLang="zh-CN" dirty="0"/>
              <a:t>(Wilman et al. 2014, </a:t>
            </a:r>
            <a:r>
              <a:rPr lang="zh-CN" altLang="zh-CN" i="1" dirty="0"/>
              <a:t>Ecology</a:t>
            </a:r>
            <a:r>
              <a:rPr lang="zh-CN" altLang="zh-CN" dirty="0"/>
              <a:t>)</a:t>
            </a:r>
            <a:r>
              <a:rPr lang="en-US" altLang="zh-CN" dirty="0"/>
              <a:t>   </a:t>
            </a:r>
          </a:p>
          <a:p>
            <a:r>
              <a:rPr lang="en-US" altLang="zh-CN" sz="1400" dirty="0"/>
              <a:t>    </a:t>
            </a:r>
            <a:r>
              <a:rPr lang="zh-CN" altLang="zh-CN" sz="1400" dirty="0"/>
              <a:t>以生态学家 Charles Elton 命名的“鸟兽生态属性表“</a:t>
            </a:r>
            <a:r>
              <a:rPr lang="en-US" altLang="zh-CN" sz="1400" dirty="0"/>
              <a:t>. </a:t>
            </a:r>
            <a:r>
              <a:rPr lang="zh-CN" altLang="en-US" sz="1400" dirty="0"/>
              <a:t>由</a:t>
            </a:r>
            <a:r>
              <a:rPr lang="zh-CN" altLang="zh-CN" sz="1400" b="1" dirty="0"/>
              <a:t>9,993 种鸟</a:t>
            </a:r>
            <a:r>
              <a:rPr lang="zh-CN" altLang="en-US" sz="1400" dirty="0"/>
              <a:t>构成</a:t>
            </a:r>
            <a:r>
              <a:rPr lang="zh-CN" altLang="zh-CN" sz="1400" dirty="0"/>
              <a:t>,</a:t>
            </a:r>
            <a:r>
              <a:rPr lang="en-US" altLang="zh-CN" sz="1400" dirty="0"/>
              <a:t> </a:t>
            </a:r>
            <a:r>
              <a:rPr lang="zh-CN" altLang="zh-CN" sz="1400" dirty="0"/>
              <a:t>记录:</a:t>
            </a:r>
            <a:r>
              <a:rPr lang="zh-CN" altLang="zh-CN" sz="1400" b="1" dirty="0">
                <a:solidFill>
                  <a:srgbClr val="C00000"/>
                </a:solidFill>
              </a:rPr>
              <a:t>体重</a:t>
            </a:r>
            <a:r>
              <a:rPr lang="zh-CN" altLang="zh-CN" sz="1400" dirty="0"/>
              <a:t>(文献汇编的物种平均值,主要源自 Dunning 鸟类体重手册)、食性构成、觅食层(水面/地面/树冠…)、昼夜活动性,外加</a:t>
            </a:r>
            <a:r>
              <a:rPr lang="zh-CN" altLang="zh-CN" sz="1400" b="1" dirty="0">
                <a:solidFill>
                  <a:srgbClr val="C00000"/>
                </a:solidFill>
              </a:rPr>
              <a:t>科/目分类</a:t>
            </a:r>
            <a:r>
              <a:rPr lang="zh-CN" altLang="zh-CN" sz="1400" dirty="0"/>
              <a:t>。和 AVONET 的”这种鸟长什么尺寸”正好互补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zh-CN" b="1" dirty="0"/>
              <a:t>Mallard landing behavior on water follows a τ-constant braking strategy.</a:t>
            </a:r>
            <a:r>
              <a:rPr lang="en-US" altLang="zh-CN" b="1" dirty="0"/>
              <a:t> </a:t>
            </a:r>
            <a:r>
              <a:rPr lang="en-US" altLang="zh-CN" dirty="0"/>
              <a:t>(</a:t>
            </a:r>
            <a:r>
              <a:rPr lang="zh-CN" altLang="zh-CN" dirty="0"/>
              <a:t>Whitehead et al. 2023, </a:t>
            </a:r>
            <a:r>
              <a:rPr lang="zh-CN" altLang="zh-CN" i="1" dirty="0"/>
              <a:t>Journal of Experimental Biology</a:t>
            </a:r>
            <a:r>
              <a:rPr lang="zh-CN" altLang="en-US" i="1" dirty="0"/>
              <a:t>）</a:t>
            </a:r>
            <a:endParaRPr lang="en-US" altLang="zh-CN" i="1" dirty="0"/>
          </a:p>
          <a:p>
            <a:r>
              <a:rPr lang="en-US" altLang="zh-CN" sz="1400" dirty="0"/>
              <a:t>     </a:t>
            </a:r>
            <a:r>
              <a:rPr lang="zh-CN" altLang="zh-CN" sz="1400" dirty="0"/>
              <a:t>一篇</a:t>
            </a:r>
            <a:r>
              <a:rPr lang="zh-CN" altLang="zh-CN" sz="1400" b="1" dirty="0"/>
              <a:t>实测水鸟着水过程速度</a:t>
            </a:r>
            <a:r>
              <a:rPr lang="zh-CN" altLang="zh-CN" sz="1400" dirty="0"/>
              <a:t>的工作</a:t>
            </a:r>
            <a:r>
              <a:rPr lang="zh-CN" altLang="en-US" sz="1400" dirty="0"/>
              <a:t>。通过它的数值给出了我们</a:t>
            </a:r>
            <a:r>
              <a:rPr lang="zh-CN" altLang="en-US" sz="1400" b="1" dirty="0">
                <a:solidFill>
                  <a:srgbClr val="C00000"/>
                </a:solidFill>
              </a:rPr>
              <a:t>仿真的标准着陆速度（</a:t>
            </a:r>
            <a:r>
              <a:rPr lang="en-US" altLang="zh-CN" sz="1400" b="1" dirty="0">
                <a:solidFill>
                  <a:srgbClr val="C00000"/>
                </a:solidFill>
              </a:rPr>
              <a:t>v0</a:t>
            </a:r>
            <a:r>
              <a:rPr lang="zh-CN" altLang="en-US" sz="1400" b="1" dirty="0">
                <a:solidFill>
                  <a:srgbClr val="C00000"/>
                </a:solidFill>
              </a:rPr>
              <a:t>）和速度范围</a:t>
            </a:r>
            <a:r>
              <a:rPr lang="zh-CN" altLang="en-US" sz="1400" dirty="0"/>
              <a:t>：</a:t>
            </a:r>
            <a:r>
              <a:rPr lang="zh-CN" altLang="zh-CN" sz="1400" dirty="0"/>
              <a:t>仿真基准 v0=1.2 m/s、工况范围 0.5–2.0 m/s</a:t>
            </a:r>
            <a:endParaRPr lang="en-US" altLang="zh-CN" sz="1400" dirty="0"/>
          </a:p>
          <a:p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zh-CN" b="1" dirty="0"/>
              <a:t>Flight speeds among bird species</a:t>
            </a:r>
            <a:r>
              <a:rPr lang="en-US" altLang="zh-CN" b="1" dirty="0"/>
              <a:t>. </a:t>
            </a:r>
            <a:r>
              <a:rPr lang="en-US" altLang="zh-CN" dirty="0"/>
              <a:t>(</a:t>
            </a:r>
            <a:r>
              <a:rPr lang="zh-CN" altLang="zh-CN" dirty="0"/>
              <a:t>Alerstam et al. 2007, </a:t>
            </a:r>
            <a:r>
              <a:rPr lang="zh-CN" altLang="zh-CN" i="1" dirty="0"/>
              <a:t>PLoS Biology</a:t>
            </a:r>
            <a:r>
              <a:rPr lang="en-US" altLang="zh-CN" dirty="0"/>
              <a:t>)</a:t>
            </a:r>
          </a:p>
          <a:p>
            <a:r>
              <a:rPr lang="en-US" altLang="zh-CN" sz="1400" dirty="0"/>
              <a:t>     </a:t>
            </a:r>
            <a:r>
              <a:rPr lang="zh-CN" altLang="zh-CN" sz="1400" dirty="0"/>
              <a:t>雷达实测 138 种飞行速度,标度指数 0.12–0.13 ≈ 1/6</a:t>
            </a:r>
            <a:r>
              <a:rPr lang="zh-CN" altLang="en-US" sz="1400" dirty="0"/>
              <a:t>，</a:t>
            </a:r>
            <a:r>
              <a:rPr lang="zh-CN" altLang="zh-CN" sz="1400" dirty="0"/>
              <a:t>借用其</a:t>
            </a:r>
            <a:r>
              <a:rPr lang="zh-CN" altLang="zh-CN" sz="1400" b="1" dirty="0">
                <a:solidFill>
                  <a:srgbClr val="C00000"/>
                </a:solidFill>
              </a:rPr>
              <a:t>标度指数</a:t>
            </a:r>
            <a:r>
              <a:rPr lang="en-US" altLang="zh-CN" sz="1400" b="1" dirty="0">
                <a:solidFill>
                  <a:srgbClr val="C00000"/>
                </a:solidFill>
              </a:rPr>
              <a:t> </a:t>
            </a:r>
            <a:r>
              <a:rPr lang="zh-CN" altLang="en-US" sz="1400" b="1" dirty="0">
                <a:solidFill>
                  <a:srgbClr val="C00000"/>
                </a:solidFill>
              </a:rPr>
              <a:t>（ </a:t>
            </a:r>
            <a:r>
              <a:rPr lang="en-US" altLang="zh-CN" sz="1400" b="1" dirty="0">
                <a:solidFill>
                  <a:srgbClr val="C00000"/>
                </a:solidFill>
              </a:rPr>
              <a:t>v0</a:t>
            </a:r>
            <a:r>
              <a:rPr lang="zh-CN" altLang="en-US" sz="1400" b="1" dirty="0">
                <a:solidFill>
                  <a:srgbClr val="C00000"/>
                </a:solidFill>
              </a:rPr>
              <a:t>和</a:t>
            </a:r>
            <a:r>
              <a:rPr lang="en-US" altLang="zh-CN" sz="1400" b="1" dirty="0">
                <a:solidFill>
                  <a:srgbClr val="C00000"/>
                </a:solidFill>
              </a:rPr>
              <a:t>m</a:t>
            </a:r>
            <a:r>
              <a:rPr lang="zh-CN" altLang="en-US" sz="1400" b="1" dirty="0">
                <a:solidFill>
                  <a:srgbClr val="C00000"/>
                </a:solidFill>
              </a:rPr>
              <a:t>的数量关系）</a:t>
            </a:r>
            <a:r>
              <a:rPr lang="zh-CN" altLang="zh-CN" sz="1400" dirty="0"/>
              <a:t>而非绝对值;</a:t>
            </a:r>
            <a:r>
              <a:rPr lang="en-US" altLang="zh-CN" sz="1400" dirty="0"/>
              <a:t> </a:t>
            </a:r>
            <a:r>
              <a:rPr lang="zh-CN" altLang="en-US" sz="1400" dirty="0"/>
              <a:t>因为这个工作测试的是巡航速度，</a:t>
            </a:r>
            <a:r>
              <a:rPr lang="zh-CN" altLang="zh-CN" sz="1400" dirty="0"/>
              <a:t>着陆速度量级另据 Whitehead 2023借用其</a:t>
            </a:r>
            <a:r>
              <a:rPr lang="zh-CN" altLang="zh-CN" sz="1400" b="1" dirty="0"/>
              <a:t>标度指数</a:t>
            </a:r>
            <a:r>
              <a:rPr lang="zh-CN" altLang="zh-CN" sz="1400" dirty="0"/>
              <a:t>而非绝对值;</a:t>
            </a:r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                                                                详细所有参数列表：</a:t>
            </a:r>
            <a:r>
              <a:rPr lang="en-US" altLang="zh-CN" sz="1400" dirty="0"/>
              <a:t>https://my.feishu.cn/file/K4g3bCS7koNLFXxPFx3cElQHnIf?from=from_copylink</a:t>
            </a:r>
          </a:p>
        </p:txBody>
      </p:sp>
    </p:spTree>
    <p:extLst>
      <p:ext uri="{BB962C8B-B14F-4D97-AF65-F5344CB8AC3E}">
        <p14:creationId xmlns:p14="http://schemas.microsoft.com/office/powerpoint/2010/main" val="159531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5097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8E2A34"/>
                </a:solidFill>
                <a:latin typeface="Microsoft YaHei"/>
              </a:rPr>
              <a:t>铺垫①:设计空间与标度律全面换成公开实测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777777"/>
                </a:solidFill>
                <a:latin typeface="Microsoft YaHei"/>
              </a:rPr>
              <a:t>AVONET(Tobias 2022)9 万条标本 + Watanabe 2017 附录表 787 具骨架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93250" y="1729918"/>
            <a:ext cx="5120640" cy="41242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sz="1600" dirty="0" err="1">
                <a:solidFill>
                  <a:srgbClr val="333333"/>
                </a:solidFill>
              </a:rPr>
              <a:t>腿长</a:t>
            </a:r>
            <a:r>
              <a:rPr sz="1600" dirty="0">
                <a:solidFill>
                  <a:srgbClr val="333333"/>
                </a:solidFill>
              </a:rPr>
              <a:t> L1:33–121 mm(AVONET 1–12kg </a:t>
            </a:r>
            <a:r>
              <a:rPr sz="1600" dirty="0" err="1">
                <a:solidFill>
                  <a:srgbClr val="333333"/>
                </a:solidFill>
              </a:rPr>
              <a:t>水鸟</a:t>
            </a:r>
            <a:r>
              <a:rPr sz="1600" dirty="0">
                <a:solidFill>
                  <a:srgbClr val="333333"/>
                </a:solidFill>
              </a:rPr>
              <a:t> 101 </a:t>
            </a:r>
            <a:r>
              <a:rPr sz="1600" dirty="0" err="1">
                <a:solidFill>
                  <a:srgbClr val="333333"/>
                </a:solidFill>
              </a:rPr>
              <a:t>种实测全距</a:t>
            </a:r>
            <a:r>
              <a:rPr sz="1600" dirty="0">
                <a:solidFill>
                  <a:srgbClr val="333333"/>
                </a:solidFill>
              </a:rPr>
              <a:t>)</a:t>
            </a:r>
            <a:endParaRPr lang="en-US" sz="1600" dirty="0">
              <a:solidFill>
                <a:srgbClr val="333333"/>
              </a:solidFill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p"/>
            </a:pPr>
            <a:endParaRPr sz="1600" dirty="0">
              <a:solidFill>
                <a:srgbClr val="333333"/>
              </a:solidFill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sz="1600" dirty="0" err="1">
                <a:solidFill>
                  <a:srgbClr val="333333"/>
                </a:solidFill>
              </a:rPr>
              <a:t>比例</a:t>
            </a:r>
            <a:r>
              <a:rPr sz="1600" dirty="0">
                <a:solidFill>
                  <a:srgbClr val="333333"/>
                </a:solidFill>
              </a:rPr>
              <a:t> r2 / r3:1.49–2.09 / 0.84–1.28(Watanabe 91 </a:t>
            </a:r>
            <a:r>
              <a:rPr sz="1600" dirty="0" err="1">
                <a:solidFill>
                  <a:srgbClr val="333333"/>
                </a:solidFill>
              </a:rPr>
              <a:t>种会飞雁鸭科骨架</a:t>
            </a:r>
            <a:r>
              <a:rPr sz="1600" dirty="0">
                <a:solidFill>
                  <a:srgbClr val="333333"/>
                </a:solidFill>
              </a:rPr>
              <a:t>)——</a:t>
            </a:r>
            <a:r>
              <a:rPr sz="1600" dirty="0" err="1">
                <a:solidFill>
                  <a:srgbClr val="333333"/>
                </a:solidFill>
              </a:rPr>
              <a:t>旧上界探索的是非生物区</a:t>
            </a:r>
            <a:endParaRPr lang="en-US" sz="1600" dirty="0">
              <a:solidFill>
                <a:srgbClr val="333333"/>
              </a:solidFill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p"/>
            </a:pPr>
            <a:endParaRPr sz="1600" dirty="0">
              <a:solidFill>
                <a:srgbClr val="333333"/>
              </a:solidFill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sz="1600" dirty="0" err="1">
                <a:solidFill>
                  <a:srgbClr val="333333"/>
                </a:solidFill>
              </a:rPr>
              <a:t>课题组前期天鹅参数独立核验:骨架实测</a:t>
            </a:r>
            <a:r>
              <a:rPr sz="1600" dirty="0">
                <a:solidFill>
                  <a:srgbClr val="333333"/>
                </a:solidFill>
              </a:rPr>
              <a:t> (1.76, 0.95) vs (1.72, 0.89),</a:t>
            </a:r>
            <a:r>
              <a:rPr sz="1600" dirty="0" err="1">
                <a:solidFill>
                  <a:srgbClr val="333333"/>
                </a:solidFill>
              </a:rPr>
              <a:t>偏差</a:t>
            </a:r>
            <a:r>
              <a:rPr sz="1600" dirty="0">
                <a:solidFill>
                  <a:srgbClr val="333333"/>
                </a:solidFill>
              </a:rPr>
              <a:t> 2–7%,可信</a:t>
            </a:r>
            <a:endParaRPr lang="en-US" sz="1600" dirty="0">
              <a:solidFill>
                <a:srgbClr val="333333"/>
              </a:solidFill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p"/>
            </a:pPr>
            <a:endParaRPr sz="1600" dirty="0">
              <a:solidFill>
                <a:srgbClr val="333333"/>
              </a:solidFill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sz="1600" dirty="0" err="1">
                <a:solidFill>
                  <a:srgbClr val="333333"/>
                </a:solidFill>
              </a:rPr>
              <a:t>标度律</a:t>
            </a:r>
            <a:r>
              <a:rPr sz="1600" dirty="0">
                <a:solidFill>
                  <a:srgbClr val="333333"/>
                </a:solidFill>
              </a:rPr>
              <a:t>:</a:t>
            </a:r>
            <a:r>
              <a:rPr lang="en-US" sz="1600" dirty="0">
                <a:solidFill>
                  <a:srgbClr val="333333"/>
                </a:solidFill>
              </a:rPr>
              <a:t> </a:t>
            </a:r>
            <a:r>
              <a:rPr lang="zh-CN" altLang="zh-CN" sz="1600" dirty="0"/>
              <a:t>L = a · m^b(腿长 = 系数 × 体重的 b 次方)</a:t>
            </a:r>
            <a:r>
              <a:rPr lang="en-US" altLang="zh-CN" sz="1600" dirty="0"/>
              <a:t>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p"/>
            </a:pPr>
            <a:endParaRPr lang="en-US" altLang="zh-CN" sz="16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sz="1600" dirty="0" err="1">
                <a:solidFill>
                  <a:srgbClr val="333333"/>
                </a:solidFill>
              </a:rPr>
              <a:t>水鸟</a:t>
            </a:r>
            <a:r>
              <a:rPr sz="1600" dirty="0">
                <a:solidFill>
                  <a:srgbClr val="333333"/>
                </a:solidFill>
              </a:rPr>
              <a:t> b=0.39±0.03 </a:t>
            </a:r>
            <a:r>
              <a:rPr sz="1600" dirty="0" err="1">
                <a:solidFill>
                  <a:srgbClr val="333333"/>
                </a:solidFill>
              </a:rPr>
              <a:t>落入模型预测带</a:t>
            </a:r>
            <a:r>
              <a:rPr sz="1600" dirty="0">
                <a:solidFill>
                  <a:srgbClr val="333333"/>
                </a:solidFill>
              </a:rPr>
              <a:t> 0.37–0.49;全鸟类 9198 种 b=0.31≈几何相似 → </a:t>
            </a:r>
            <a:r>
              <a:rPr sz="1600" dirty="0" err="1">
                <a:solidFill>
                  <a:srgbClr val="333333"/>
                </a:solidFill>
              </a:rPr>
              <a:t>该偏移为水面着陆类群特有</a:t>
            </a:r>
            <a:endParaRPr sz="1600" dirty="0">
              <a:solidFill>
                <a:srgbClr val="333333"/>
              </a:solidFill>
            </a:endParaRPr>
          </a:p>
        </p:txBody>
      </p:sp>
      <p:pic>
        <p:nvPicPr>
          <p:cNvPr id="5" name="Picture 4" descr="avonet_allo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10" y="1536192"/>
            <a:ext cx="5943600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5097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8E2A34"/>
                </a:solidFill>
                <a:latin typeface="Microsoft YaHei"/>
              </a:rPr>
              <a:t>铺垫②:落震多指标体系与天鹅画像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1200" dirty="0">
                <a:solidFill>
                  <a:srgbClr val="777777"/>
                </a:solidFill>
                <a:latin typeface="Microsoft YaHei"/>
              </a:rPr>
              <a:t>改变</a:t>
            </a:r>
            <a:r>
              <a:rPr sz="1200" b="0" dirty="0">
                <a:solidFill>
                  <a:srgbClr val="777777"/>
                </a:solidFill>
                <a:latin typeface="Microsoft YaHei"/>
              </a:rPr>
              <a:t>“</a:t>
            </a:r>
            <a:r>
              <a:rPr sz="1200" b="0" dirty="0" err="1">
                <a:solidFill>
                  <a:srgbClr val="777777"/>
                </a:solidFill>
                <a:latin typeface="Microsoft YaHei"/>
              </a:rPr>
              <a:t>只看峰值加速度</a:t>
            </a:r>
            <a:r>
              <a:rPr sz="1200" b="0" dirty="0">
                <a:solidFill>
                  <a:srgbClr val="777777"/>
                </a:solidFill>
                <a:latin typeface="Microsoft YaHei"/>
              </a:rPr>
              <a:t>”——</a:t>
            </a:r>
            <a:r>
              <a:rPr lang="en-US" sz="1200" b="0" dirty="0">
                <a:solidFill>
                  <a:srgbClr val="777777"/>
                </a:solidFill>
                <a:latin typeface="Microsoft YaHei"/>
              </a:rPr>
              <a:t> </a:t>
            </a:r>
            <a:r>
              <a:rPr lang="zh-CN" altLang="en-US" sz="1200" b="0" dirty="0">
                <a:solidFill>
                  <a:srgbClr val="777777"/>
                </a:solidFill>
                <a:latin typeface="Microsoft YaHei"/>
              </a:rPr>
              <a:t>增加</a:t>
            </a:r>
            <a:r>
              <a:rPr sz="1200" b="0" dirty="0">
                <a:solidFill>
                  <a:srgbClr val="777777"/>
                </a:solidFill>
                <a:latin typeface="Microsoft YaHei"/>
              </a:rPr>
              <a:t>η/CFE/jerk/</a:t>
            </a:r>
            <a:r>
              <a:rPr sz="1200" b="0" dirty="0" err="1">
                <a:solidFill>
                  <a:srgbClr val="777777"/>
                </a:solidFill>
                <a:latin typeface="Microsoft YaHei"/>
              </a:rPr>
              <a:t>回弹</a:t>
            </a:r>
            <a:r>
              <a:rPr sz="1200" b="0" dirty="0">
                <a:solidFill>
                  <a:srgbClr val="777777"/>
                </a:solidFill>
                <a:latin typeface="Microsoft YaHei"/>
              </a:rPr>
              <a:t>/</a:t>
            </a:r>
            <a:r>
              <a:rPr sz="1200" b="0" dirty="0" err="1">
                <a:solidFill>
                  <a:srgbClr val="777777"/>
                </a:solidFill>
                <a:latin typeface="Microsoft YaHei"/>
              </a:rPr>
              <a:t>镇定</a:t>
            </a:r>
            <a:endParaRPr sz="1200" b="0" dirty="0">
              <a:solidFill>
                <a:srgbClr val="777777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5365" y="2489572"/>
            <a:ext cx="4754880" cy="22775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sz="1600" b="0" dirty="0" err="1">
                <a:solidFill>
                  <a:srgbClr val="333333"/>
                </a:solidFill>
                <a:ea typeface="等线" panose="02010600030101010101" pitchFamily="2" charset="-122"/>
              </a:rPr>
              <a:t>缓冲效率</a:t>
            </a:r>
            <a:r>
              <a:rPr sz="1600" b="0" dirty="0">
                <a:solidFill>
                  <a:srgbClr val="333333"/>
                </a:solidFill>
                <a:ea typeface="等线" panose="02010600030101010101" pitchFamily="2" charset="-122"/>
              </a:rPr>
              <a:t> η = </a:t>
            </a:r>
            <a:r>
              <a:rPr sz="1600" b="0" dirty="0" err="1">
                <a:solidFill>
                  <a:srgbClr val="333333"/>
                </a:solidFill>
                <a:ea typeface="等线" panose="02010600030101010101" pitchFamily="2" charset="-122"/>
              </a:rPr>
              <a:t>吸收能量</a:t>
            </a:r>
            <a:r>
              <a:rPr sz="1600" b="0" dirty="0">
                <a:solidFill>
                  <a:srgbClr val="333333"/>
                </a:solidFill>
                <a:ea typeface="等线" panose="02010600030101010101" pitchFamily="2" charset="-122"/>
              </a:rPr>
              <a:t>/(</a:t>
            </a:r>
            <a:r>
              <a:rPr sz="1600" b="0" dirty="0" err="1">
                <a:solidFill>
                  <a:srgbClr val="333333"/>
                </a:solidFill>
                <a:ea typeface="等线" panose="02010600030101010101" pitchFamily="2" charset="-122"/>
              </a:rPr>
              <a:t>峰值力×行程</a:t>
            </a:r>
            <a:r>
              <a:rPr sz="1600" b="0" dirty="0">
                <a:solidFill>
                  <a:srgbClr val="333333"/>
                </a:solidFill>
                <a:ea typeface="等线" panose="02010600030101010101" pitchFamily="2" charset="-122"/>
              </a:rPr>
              <a:t>):</a:t>
            </a:r>
            <a:r>
              <a:rPr sz="1600" b="0" dirty="0" err="1">
                <a:solidFill>
                  <a:srgbClr val="333333"/>
                </a:solidFill>
                <a:ea typeface="等线" panose="02010600030101010101" pitchFamily="2" charset="-122"/>
              </a:rPr>
              <a:t>天鹅</a:t>
            </a:r>
            <a:r>
              <a:rPr sz="1600" b="0" dirty="0">
                <a:solidFill>
                  <a:srgbClr val="333333"/>
                </a:solidFill>
                <a:ea typeface="等线" panose="02010600030101010101" pitchFamily="2" charset="-122"/>
              </a:rPr>
              <a:t> 0.80,进入油气支柱典型区 0.8–0.9</a:t>
            </a:r>
            <a:endParaRPr lang="en-US" sz="1600" b="0" dirty="0">
              <a:solidFill>
                <a:srgbClr val="333333"/>
              </a:solidFill>
              <a:ea typeface="等线" panose="02010600030101010101" pitchFamily="2" charset="-122"/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p"/>
            </a:pPr>
            <a:endParaRPr sz="1600" b="0" dirty="0">
              <a:solidFill>
                <a:srgbClr val="333333"/>
              </a:solidFill>
              <a:ea typeface="等线" panose="02010600030101010101" pitchFamily="2" charset="-122"/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sz="1600" b="0" dirty="0" err="1">
                <a:solidFill>
                  <a:srgbClr val="333333"/>
                </a:solidFill>
                <a:ea typeface="等线" panose="02010600030101010101" pitchFamily="2" charset="-122"/>
              </a:rPr>
              <a:t>天鹅画像:品质类指标</a:t>
            </a:r>
            <a:r>
              <a:rPr sz="1600" b="0" dirty="0">
                <a:solidFill>
                  <a:srgbClr val="333333"/>
                </a:solidFill>
                <a:ea typeface="等线" panose="02010600030101010101" pitchFamily="2" charset="-122"/>
              </a:rPr>
              <a:t>(</a:t>
            </a:r>
            <a:r>
              <a:rPr sz="1600" b="0" dirty="0" err="1">
                <a:solidFill>
                  <a:srgbClr val="333333"/>
                </a:solidFill>
                <a:ea typeface="等线" panose="02010600030101010101" pitchFamily="2" charset="-122"/>
              </a:rPr>
              <a:t>过载</a:t>
            </a:r>
            <a:r>
              <a:rPr sz="1600" b="0" dirty="0">
                <a:solidFill>
                  <a:srgbClr val="333333"/>
                </a:solidFill>
                <a:ea typeface="等线" panose="02010600030101010101" pitchFamily="2" charset="-122"/>
              </a:rPr>
              <a:t>/η/CFE/jerk)</a:t>
            </a:r>
            <a:r>
              <a:rPr sz="1600" b="0" dirty="0" err="1">
                <a:solidFill>
                  <a:srgbClr val="333333"/>
                </a:solidFill>
                <a:ea typeface="等线" panose="02010600030101010101" pitchFamily="2" charset="-122"/>
              </a:rPr>
              <a:t>全部前</a:t>
            </a:r>
            <a:r>
              <a:rPr sz="1600" b="0" dirty="0">
                <a:solidFill>
                  <a:srgbClr val="333333"/>
                </a:solidFill>
                <a:ea typeface="等线" panose="02010600030101010101" pitchFamily="2" charset="-122"/>
              </a:rPr>
              <a:t> 13%;</a:t>
            </a:r>
            <a:r>
              <a:rPr sz="1600" b="0" dirty="0" err="1">
                <a:solidFill>
                  <a:srgbClr val="333333"/>
                </a:solidFill>
                <a:ea typeface="等线" panose="02010600030101010101" pitchFamily="2" charset="-122"/>
              </a:rPr>
              <a:t>代价记在行程与镇定时间</a:t>
            </a:r>
            <a:endParaRPr lang="en-US" sz="1600" b="0" dirty="0">
              <a:solidFill>
                <a:srgbClr val="333333"/>
              </a:solidFill>
              <a:ea typeface="等线" panose="02010600030101010101" pitchFamily="2" charset="-122"/>
            </a:endParaRPr>
          </a:p>
          <a:p>
            <a:pPr algn="l">
              <a:spcAft>
                <a:spcPts val="600"/>
              </a:spcAft>
            </a:pPr>
            <a:endParaRPr sz="1600" b="0" dirty="0">
              <a:solidFill>
                <a:srgbClr val="333333"/>
              </a:solidFill>
              <a:ea typeface="等线" panose="02010600030101010101" pitchFamily="2" charset="-122"/>
            </a:endParaRPr>
          </a:p>
          <a:p>
            <a:pPr marL="285750" indent="-285750" algn="l"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rgbClr val="333333"/>
                </a:solidFill>
                <a:ea typeface="等线" panose="02010600030101010101" pitchFamily="2" charset="-122"/>
              </a:rPr>
              <a:t>三维条件下 </a:t>
            </a:r>
            <a:r>
              <a:rPr lang="en-US" altLang="zh-CN" sz="1600" dirty="0">
                <a:solidFill>
                  <a:srgbClr val="333333"/>
                </a:solidFill>
                <a:ea typeface="等线" panose="02010600030101010101" pitchFamily="2" charset="-122"/>
              </a:rPr>
              <a:t>jerk</a:t>
            </a:r>
            <a:r>
              <a:rPr lang="zh-CN" altLang="en-US" sz="1600" dirty="0">
                <a:solidFill>
                  <a:srgbClr val="333333"/>
                </a:solidFill>
                <a:ea typeface="等线" panose="02010600030101010101" pitchFamily="2" charset="-122"/>
              </a:rPr>
              <a:t> 和峰值加速度为线性关系不需要作为特征学习</a:t>
            </a:r>
            <a:endParaRPr sz="1600" b="0" dirty="0">
              <a:solidFill>
                <a:srgbClr val="333333"/>
              </a:solidFill>
              <a:ea typeface="等线" panose="02010600030101010101" pitchFamily="2" charset="-122"/>
            </a:endParaRPr>
          </a:p>
        </p:txBody>
      </p:sp>
      <p:pic>
        <p:nvPicPr>
          <p:cNvPr id="5" name="Picture 4" descr="multi_metr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5119"/>
            <a:ext cx="6400800" cy="47655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dirty="0" err="1">
                <a:solidFill>
                  <a:srgbClr val="333333"/>
                </a:solidFill>
                <a:latin typeface="Microsoft YaHei"/>
              </a:rPr>
              <a:t>生成线:从验证生物解,到生成工程解</a:t>
            </a:r>
            <a:endParaRPr sz="3000" b="1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2150000"/>
            <a:ext cx="10515600" cy="14491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dirty="0" err="1">
                <a:solidFill>
                  <a:srgbClr val="8E2A34"/>
                </a:solidFill>
                <a:latin typeface="Microsoft YaHei"/>
                <a:ea typeface="Microsoft YaHei"/>
              </a:rPr>
              <a:t>条件生成</a:t>
            </a:r>
            <a:r>
              <a:rPr sz="1500" b="1" dirty="0">
                <a:solidFill>
                  <a:srgbClr val="8E2A34"/>
                </a:solidFill>
                <a:latin typeface="Microsoft YaHei"/>
                <a:ea typeface="Microsoft YaHei"/>
              </a:rPr>
              <a:t>(</a:t>
            </a:r>
            <a:r>
              <a:rPr sz="1500" b="1" dirty="0" err="1">
                <a:solidFill>
                  <a:srgbClr val="8E2A34"/>
                </a:solidFill>
                <a:latin typeface="Microsoft YaHei"/>
                <a:ea typeface="Microsoft YaHei"/>
              </a:rPr>
              <a:t>工况→设计族</a:t>
            </a:r>
            <a:r>
              <a:rPr sz="1500" b="1" dirty="0">
                <a:solidFill>
                  <a:srgbClr val="8E2A34"/>
                </a:solidFill>
                <a:latin typeface="Microsoft YaHei"/>
                <a:ea typeface="Microsoft YaHei"/>
              </a:rPr>
              <a:t>) · </a:t>
            </a:r>
            <a:r>
              <a:rPr lang="zh-CN" altLang="en-US" sz="1500" b="1" dirty="0">
                <a:solidFill>
                  <a:srgbClr val="8E2A34"/>
                </a:solidFill>
                <a:latin typeface="Microsoft YaHei"/>
                <a:ea typeface="Microsoft YaHei"/>
              </a:rPr>
              <a:t>力学仿真</a:t>
            </a:r>
            <a:r>
              <a:rPr sz="1500" b="1" dirty="0" err="1">
                <a:solidFill>
                  <a:srgbClr val="8E2A34"/>
                </a:solidFill>
                <a:latin typeface="Microsoft YaHei"/>
                <a:ea typeface="Microsoft YaHei"/>
              </a:rPr>
              <a:t>在环</a:t>
            </a:r>
            <a:r>
              <a:rPr sz="1500" b="1" dirty="0">
                <a:solidFill>
                  <a:srgbClr val="8E2A34"/>
                </a:solidFill>
                <a:latin typeface="Microsoft YaHei"/>
                <a:ea typeface="Microsoft YaHei"/>
              </a:rPr>
              <a:t> · </a:t>
            </a:r>
            <a:r>
              <a:rPr sz="1500" b="1" dirty="0" err="1">
                <a:solidFill>
                  <a:srgbClr val="8E2A34"/>
                </a:solidFill>
                <a:latin typeface="Microsoft YaHei"/>
                <a:ea typeface="Microsoft YaHei"/>
              </a:rPr>
              <a:t>自提升循环</a:t>
            </a:r>
            <a:endParaRPr sz="1500" b="1" dirty="0">
              <a:solidFill>
                <a:srgbClr val="8E2A34"/>
              </a:solidFill>
              <a:latin typeface="Microsoft YaHei"/>
              <a:ea typeface="Microsoft YaHei"/>
            </a:endParaRPr>
          </a:p>
          <a:p>
            <a:pPr>
              <a:spcAft>
                <a:spcPts val="400"/>
              </a:spcAft>
            </a:pPr>
            <a:r>
              <a:rPr sz="1250" b="1" dirty="0">
                <a:solidFill>
                  <a:srgbClr val="3A6EA5"/>
                </a:solidFill>
                <a:latin typeface="Microsoft YaHei"/>
                <a:ea typeface="Microsoft YaHei"/>
              </a:rPr>
              <a:t>E1 </a:t>
            </a:r>
            <a:r>
              <a:rPr sz="1250" b="1" dirty="0" err="1">
                <a:solidFill>
                  <a:srgbClr val="3A6EA5"/>
                </a:solidFill>
                <a:latin typeface="Microsoft YaHei"/>
                <a:ea typeface="Microsoft YaHei"/>
              </a:rPr>
              <a:t>摊销</a:t>
            </a:r>
            <a:r>
              <a:rPr sz="1250" b="1" dirty="0">
                <a:solidFill>
                  <a:srgbClr val="3A6EA5"/>
                </a:solidFill>
                <a:latin typeface="Microsoft YaHei"/>
                <a:ea typeface="Microsoft YaHei"/>
              </a:rPr>
              <a:t>  </a:t>
            </a:r>
            <a:r>
              <a:rPr sz="1250" dirty="0" err="1">
                <a:solidFill>
                  <a:srgbClr val="333333"/>
                </a:solidFill>
                <a:latin typeface="Microsoft YaHei"/>
                <a:ea typeface="Microsoft YaHei"/>
              </a:rPr>
              <a:t>训练一次、新工况零仿真出设计</a:t>
            </a:r>
            <a:r>
              <a:rPr sz="1250" dirty="0">
                <a:solidFill>
                  <a:srgbClr val="333333"/>
                </a:solidFill>
                <a:latin typeface="Microsoft YaHei"/>
                <a:ea typeface="Microsoft YaHei"/>
              </a:rPr>
              <a:t>——</a:t>
            </a:r>
            <a:r>
              <a:rPr sz="1250" dirty="0" err="1">
                <a:solidFill>
                  <a:srgbClr val="333333"/>
                </a:solidFill>
                <a:latin typeface="Microsoft YaHei"/>
                <a:ea typeface="Microsoft YaHei"/>
              </a:rPr>
              <a:t>划算吗</a:t>
            </a:r>
            <a:r>
              <a:rPr sz="1250" dirty="0">
                <a:solidFill>
                  <a:srgbClr val="333333"/>
                </a:solidFill>
                <a:latin typeface="Microsoft YaHei"/>
                <a:ea typeface="Microsoft YaHei"/>
              </a:rPr>
              <a:t>?(</a:t>
            </a:r>
            <a:r>
              <a:rPr sz="1250" dirty="0" err="1">
                <a:solidFill>
                  <a:srgbClr val="333333"/>
                </a:solidFill>
                <a:latin typeface="Microsoft YaHei"/>
                <a:ea typeface="Microsoft YaHei"/>
              </a:rPr>
              <a:t>答:达</a:t>
            </a:r>
            <a:r>
              <a:rPr sz="1250" dirty="0">
                <a:solidFill>
                  <a:srgbClr val="333333"/>
                </a:solidFill>
                <a:latin typeface="Microsoft YaHei"/>
                <a:ea typeface="Microsoft YaHei"/>
              </a:rPr>
              <a:t> BO-9 的 97%)</a:t>
            </a:r>
          </a:p>
          <a:p>
            <a:pPr>
              <a:spcAft>
                <a:spcPts val="400"/>
              </a:spcAft>
            </a:pPr>
            <a:r>
              <a:rPr sz="1250" b="1" dirty="0">
                <a:solidFill>
                  <a:srgbClr val="3A6EA5"/>
                </a:solidFill>
                <a:latin typeface="Microsoft YaHei"/>
                <a:ea typeface="Microsoft YaHei"/>
              </a:rPr>
              <a:t>E4 </a:t>
            </a:r>
            <a:r>
              <a:rPr sz="1250" b="1" dirty="0" err="1">
                <a:solidFill>
                  <a:srgbClr val="3A6EA5"/>
                </a:solidFill>
                <a:latin typeface="Microsoft YaHei"/>
                <a:ea typeface="Microsoft YaHei"/>
              </a:rPr>
              <a:t>扩维</a:t>
            </a:r>
            <a:r>
              <a:rPr sz="1250" b="1" dirty="0">
                <a:solidFill>
                  <a:srgbClr val="3A6EA5"/>
                </a:solidFill>
                <a:latin typeface="Microsoft YaHei"/>
                <a:ea typeface="Microsoft YaHei"/>
              </a:rPr>
              <a:t>  </a:t>
            </a:r>
            <a:r>
              <a:rPr sz="1250" dirty="0" err="1">
                <a:solidFill>
                  <a:srgbClr val="333333"/>
                </a:solidFill>
                <a:latin typeface="Microsoft YaHei"/>
                <a:ea typeface="Microsoft YaHei"/>
              </a:rPr>
              <a:t>设计</a:t>
            </a:r>
            <a:r>
              <a:rPr sz="1250" dirty="0">
                <a:solidFill>
                  <a:srgbClr val="333333"/>
                </a:solidFill>
                <a:latin typeface="Microsoft YaHei"/>
                <a:ea typeface="Microsoft YaHei"/>
              </a:rPr>
              <a:t> 3 维→7 维(</a:t>
            </a:r>
            <a:r>
              <a:rPr sz="1250" dirty="0" err="1">
                <a:solidFill>
                  <a:srgbClr val="333333"/>
                </a:solidFill>
                <a:latin typeface="Microsoft YaHei"/>
                <a:ea typeface="Microsoft YaHei"/>
              </a:rPr>
              <a:t>刚度解耦</a:t>
            </a:r>
            <a:r>
              <a:rPr sz="1250" dirty="0">
                <a:solidFill>
                  <a:srgbClr val="333333"/>
                </a:solidFill>
                <a:latin typeface="Microsoft YaHei"/>
                <a:ea typeface="Microsoft YaHei"/>
              </a:rPr>
              <a:t>)——</a:t>
            </a:r>
            <a:r>
              <a:rPr sz="1250" dirty="0" err="1">
                <a:solidFill>
                  <a:srgbClr val="333333"/>
                </a:solidFill>
                <a:latin typeface="Microsoft YaHei"/>
                <a:ea typeface="Microsoft YaHei"/>
              </a:rPr>
              <a:t>高维谁更强</a:t>
            </a:r>
            <a:r>
              <a:rPr sz="1250" dirty="0">
                <a:solidFill>
                  <a:srgbClr val="333333"/>
                </a:solidFill>
                <a:latin typeface="Microsoft YaHei"/>
                <a:ea typeface="Microsoft YaHei"/>
              </a:rPr>
              <a:t>?(</a:t>
            </a:r>
            <a:r>
              <a:rPr sz="1250" dirty="0" err="1">
                <a:solidFill>
                  <a:srgbClr val="333333"/>
                </a:solidFill>
                <a:latin typeface="Microsoft YaHei"/>
                <a:ea typeface="Microsoft YaHei"/>
              </a:rPr>
              <a:t>答:BO</a:t>
            </a:r>
            <a:r>
              <a:rPr sz="125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250" dirty="0">
                <a:solidFill>
                  <a:srgbClr val="333333"/>
                </a:solidFill>
                <a:latin typeface="Microsoft YaHei"/>
                <a:ea typeface="Microsoft YaHei"/>
              </a:rPr>
              <a:t>开始下滑</a:t>
            </a:r>
            <a:r>
              <a:rPr sz="1250" dirty="0">
                <a:solidFill>
                  <a:srgbClr val="333333"/>
                </a:solidFill>
                <a:latin typeface="Microsoft YaHei"/>
                <a:ea typeface="Microsoft YaHei"/>
              </a:rPr>
              <a:t>)</a:t>
            </a:r>
          </a:p>
          <a:p>
            <a:pPr>
              <a:spcAft>
                <a:spcPts val="400"/>
              </a:spcAft>
            </a:pPr>
            <a:r>
              <a:rPr sz="1250" b="1" dirty="0">
                <a:solidFill>
                  <a:srgbClr val="3A6EA5"/>
                </a:solidFill>
                <a:latin typeface="Microsoft YaHei"/>
                <a:ea typeface="Microsoft YaHei"/>
              </a:rPr>
              <a:t>E5 </a:t>
            </a:r>
            <a:r>
              <a:rPr sz="1250" b="1" dirty="0" err="1">
                <a:solidFill>
                  <a:srgbClr val="3A6EA5"/>
                </a:solidFill>
                <a:latin typeface="Microsoft YaHei"/>
                <a:ea typeface="Microsoft YaHei"/>
              </a:rPr>
              <a:t>循环</a:t>
            </a:r>
            <a:r>
              <a:rPr sz="1250" b="1" dirty="0">
                <a:solidFill>
                  <a:srgbClr val="3A6EA5"/>
                </a:solidFill>
                <a:latin typeface="Microsoft YaHei"/>
                <a:ea typeface="Microsoft YaHei"/>
              </a:rPr>
              <a:t>  </a:t>
            </a:r>
            <a:r>
              <a:rPr sz="125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模型提议</a:t>
            </a:r>
            <a:r>
              <a:rPr sz="125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1250" dirty="0" err="1">
                <a:solidFill>
                  <a:srgbClr val="333333"/>
                </a:solidFill>
                <a:latin typeface="Microsoft YaHei"/>
                <a:ea typeface="Microsoft YaHei"/>
              </a:rPr>
              <a:t>仿真实摔</a:t>
            </a:r>
            <a:r>
              <a:rPr sz="125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1250" dirty="0" err="1">
                <a:solidFill>
                  <a:srgbClr val="333333"/>
                </a:solidFill>
                <a:latin typeface="Microsoft YaHei"/>
                <a:ea typeface="Microsoft YaHei"/>
              </a:rPr>
              <a:t>回灌重训</a:t>
            </a:r>
            <a:r>
              <a:rPr sz="1250" dirty="0">
                <a:solidFill>
                  <a:srgbClr val="333333"/>
                </a:solidFill>
                <a:latin typeface="Microsoft YaHei"/>
                <a:ea typeface="Microsoft YaHei"/>
              </a:rPr>
              <a:t>——</a:t>
            </a:r>
            <a:r>
              <a:rPr sz="1250" dirty="0" err="1">
                <a:solidFill>
                  <a:srgbClr val="333333"/>
                </a:solidFill>
                <a:latin typeface="Microsoft YaHei"/>
                <a:ea typeface="Microsoft YaHei"/>
              </a:rPr>
              <a:t>越练越强吗</a:t>
            </a:r>
            <a:r>
              <a:rPr sz="1250" dirty="0">
                <a:solidFill>
                  <a:srgbClr val="333333"/>
                </a:solidFill>
                <a:latin typeface="Microsoft YaHei"/>
                <a:ea typeface="Microsoft YaHei"/>
              </a:rPr>
              <a:t>?(答:71%→30%)</a:t>
            </a:r>
          </a:p>
          <a:p>
            <a:pPr>
              <a:spcAft>
                <a:spcPts val="400"/>
              </a:spcAft>
            </a:pPr>
            <a:r>
              <a:rPr sz="1250" b="1" dirty="0" err="1">
                <a:solidFill>
                  <a:srgbClr val="3A6EA5"/>
                </a:solidFill>
                <a:latin typeface="Microsoft YaHei"/>
                <a:ea typeface="Microsoft YaHei"/>
              </a:rPr>
              <a:t>复现检验</a:t>
            </a:r>
            <a:r>
              <a:rPr sz="1250" b="1" dirty="0">
                <a:solidFill>
                  <a:srgbClr val="3A6EA5"/>
                </a:solidFill>
                <a:latin typeface="Microsoft YaHei"/>
                <a:ea typeface="Microsoft YaHei"/>
              </a:rPr>
              <a:t>  </a:t>
            </a:r>
            <a:r>
              <a:rPr sz="1250" dirty="0" err="1">
                <a:solidFill>
                  <a:srgbClr val="333333"/>
                </a:solidFill>
                <a:latin typeface="Microsoft YaHei"/>
                <a:ea typeface="Microsoft YaHei"/>
              </a:rPr>
              <a:t>整条轨迹多种子重测</a:t>
            </a:r>
            <a:r>
              <a:rPr sz="1250" dirty="0">
                <a:solidFill>
                  <a:srgbClr val="333333"/>
                </a:solidFill>
                <a:latin typeface="Microsoft YaHei"/>
                <a:ea typeface="Microsoft YaHei"/>
              </a:rPr>
              <a:t>——</a:t>
            </a:r>
            <a:r>
              <a:rPr sz="1250" dirty="0" err="1">
                <a:solidFill>
                  <a:srgbClr val="333333"/>
                </a:solidFill>
                <a:latin typeface="Microsoft YaHei"/>
                <a:ea typeface="Microsoft YaHei"/>
              </a:rPr>
              <a:t>曲线可信吗</a:t>
            </a:r>
            <a:r>
              <a:rPr sz="1250" dirty="0">
                <a:solidFill>
                  <a:srgbClr val="333333"/>
                </a:solidFill>
                <a:latin typeface="Microsoft YaHei"/>
                <a:ea typeface="Microsoft YaHei"/>
              </a:rPr>
              <a:t>?(</a:t>
            </a:r>
            <a:r>
              <a:rPr sz="1250" dirty="0" err="1">
                <a:solidFill>
                  <a:srgbClr val="333333"/>
                </a:solidFill>
                <a:latin typeface="Microsoft YaHei"/>
                <a:ea typeface="Microsoft YaHei"/>
              </a:rPr>
              <a:t>答:单种子噪声</a:t>
            </a:r>
            <a:r>
              <a:rPr sz="1250" dirty="0">
                <a:solidFill>
                  <a:srgbClr val="333333"/>
                </a:solidFill>
                <a:latin typeface="Microsoft YaHei"/>
                <a:ea typeface="Microsoft YaHei"/>
              </a:rPr>
              <a:t> ±20pt,已重测)</a:t>
            </a:r>
          </a:p>
          <a:p>
            <a:pPr>
              <a:spcAft>
                <a:spcPts val="400"/>
              </a:spcAft>
            </a:pPr>
            <a:r>
              <a:rPr sz="1250" b="1" dirty="0">
                <a:solidFill>
                  <a:srgbClr val="3A6EA5"/>
                </a:solidFill>
                <a:latin typeface="Microsoft YaHei"/>
                <a:ea typeface="Microsoft YaHei"/>
              </a:rPr>
              <a:t>E5c </a:t>
            </a:r>
            <a:r>
              <a:rPr sz="1250" b="1" dirty="0" err="1">
                <a:solidFill>
                  <a:srgbClr val="3A6EA5"/>
                </a:solidFill>
                <a:latin typeface="Microsoft YaHei"/>
                <a:ea typeface="Microsoft YaHei"/>
              </a:rPr>
              <a:t>选模</a:t>
            </a:r>
            <a:r>
              <a:rPr sz="1250" b="1" dirty="0">
                <a:solidFill>
                  <a:srgbClr val="3A6EA5"/>
                </a:solidFill>
                <a:latin typeface="Microsoft YaHei"/>
                <a:ea typeface="Microsoft YaHei"/>
              </a:rPr>
              <a:t>  </a:t>
            </a:r>
            <a:r>
              <a:rPr sz="1250" dirty="0" err="1">
                <a:solidFill>
                  <a:srgbClr val="333333"/>
                </a:solidFill>
                <a:latin typeface="Microsoft YaHei"/>
                <a:ea typeface="Microsoft YaHei"/>
              </a:rPr>
              <a:t>验证集挑模型、测试集只报一次</a:t>
            </a:r>
            <a:r>
              <a:rPr sz="1250" dirty="0">
                <a:solidFill>
                  <a:srgbClr val="333333"/>
                </a:solidFill>
                <a:latin typeface="Microsoft YaHei"/>
                <a:ea typeface="Microsoft YaHei"/>
              </a:rPr>
              <a:t>——</a:t>
            </a:r>
            <a:r>
              <a:rPr sz="1250" dirty="0" err="1">
                <a:solidFill>
                  <a:srgbClr val="333333"/>
                </a:solidFill>
                <a:latin typeface="Microsoft YaHei"/>
                <a:ea typeface="Microsoft YaHei"/>
              </a:rPr>
              <a:t>无泄露官方数字</a:t>
            </a:r>
            <a:r>
              <a:rPr sz="1250" dirty="0">
                <a:solidFill>
                  <a:srgbClr val="333333"/>
                </a:solidFill>
                <a:latin typeface="Microsoft YaHei"/>
                <a:ea typeface="Microsoft YaHei"/>
              </a:rPr>
              <a:t> 22.1%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B3D8417-CCD4-3A72-0D22-A8AA65BD94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256" y="978194"/>
            <a:ext cx="9354193" cy="5734493"/>
          </a:xfrm>
          <a:prstGeom prst="rect">
            <a:avLst/>
          </a:prstGeom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613BE94C-9075-9972-3130-89F3ED348ADB}"/>
              </a:ext>
            </a:extLst>
          </p:cNvPr>
          <p:cNvSpPr txBox="1"/>
          <p:nvPr/>
        </p:nvSpPr>
        <p:spPr>
          <a:xfrm>
            <a:off x="502920" y="274320"/>
            <a:ext cx="9509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400" b="1" dirty="0">
                <a:solidFill>
                  <a:srgbClr val="8E2A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生成逻辑总览</a:t>
            </a:r>
            <a:endParaRPr sz="2400" b="1" dirty="0">
              <a:solidFill>
                <a:srgbClr val="8E2A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272E429-914A-A5A6-BC04-15D0CF322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813" y="6073482"/>
            <a:ext cx="141288" cy="11734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263BCAD-CFDE-F889-8CD6-D386CB327D80}"/>
              </a:ext>
            </a:extLst>
          </p:cNvPr>
          <p:cNvSpPr txBox="1"/>
          <p:nvPr/>
        </p:nvSpPr>
        <p:spPr>
          <a:xfrm>
            <a:off x="5297489" y="6016736"/>
            <a:ext cx="2016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accent5">
                    <a:lumMod val="75000"/>
                  </a:schemeClr>
                </a:solidFill>
              </a:rPr>
              <a:t>N</a:t>
            </a:r>
            <a:endParaRPr lang="zh-CN" altLang="en-US" sz="9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D74C929-DA1F-429B-425A-D7243F2AB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574" y="6399211"/>
            <a:ext cx="500063" cy="1143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89B0DA-A5BC-C8A4-CBDD-8C9A71751C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4882" y="3203575"/>
            <a:ext cx="776817" cy="13758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1885B2B-8CD8-13FE-2CFF-0A08396C0737}"/>
              </a:ext>
            </a:extLst>
          </p:cNvPr>
          <p:cNvSpPr txBox="1"/>
          <p:nvPr/>
        </p:nvSpPr>
        <p:spPr>
          <a:xfrm>
            <a:off x="2645832" y="3203575"/>
            <a:ext cx="96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关节角度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614DD76-175F-C071-0214-1CC31510F5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7650" y="4386263"/>
            <a:ext cx="1435100" cy="11734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C40D6CD-5D30-8FF8-7764-B0128F758B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9101" y="5719762"/>
            <a:ext cx="2047875" cy="196851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9AA8B81-04ED-3CC0-FE2D-933DEB2C3D5F}"/>
              </a:ext>
            </a:extLst>
          </p:cNvPr>
          <p:cNvCxnSpPr>
            <a:cxnSpLocks/>
            <a:endCxn id="13" idx="2"/>
          </p:cNvCxnSpPr>
          <p:nvPr/>
        </p:nvCxnSpPr>
        <p:spPr>
          <a:xfrm flipH="1">
            <a:off x="6523039" y="5744633"/>
            <a:ext cx="1681161" cy="171980"/>
          </a:xfrm>
          <a:prstGeom prst="straightConnector1">
            <a:avLst/>
          </a:prstGeom>
          <a:ln>
            <a:solidFill>
              <a:srgbClr val="6B4D9B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EABB2CE3-6444-3A50-8894-45ABC7F2B9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3625" y="5619639"/>
            <a:ext cx="809625" cy="7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99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5097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8E2A34"/>
                </a:solidFill>
                <a:latin typeface="Microsoft YaHei"/>
                <a:ea typeface="Microsoft YaHei"/>
              </a:rPr>
              <a:t>E1 / E4:先证“免仿真可行”,再证“高维生成更值钱”</a:t>
            </a:r>
          </a:p>
        </p:txBody>
      </p:sp>
      <p:pic>
        <p:nvPicPr>
          <p:cNvPr id="3" name="Picture 2" descr="fig_gen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41528"/>
            <a:ext cx="7406640" cy="392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21822" y="1624885"/>
            <a:ext cx="3981716" cy="33675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dirty="0">
                <a:solidFill>
                  <a:srgbClr val="3A6EA5"/>
                </a:solidFill>
                <a:latin typeface="Microsoft YaHei"/>
                <a:ea typeface="Microsoft YaHei"/>
              </a:rPr>
              <a:t>E1 </a:t>
            </a:r>
            <a:r>
              <a:rPr sz="1300" b="1" dirty="0" err="1">
                <a:solidFill>
                  <a:srgbClr val="3A6EA5"/>
                </a:solidFill>
                <a:latin typeface="Microsoft YaHei"/>
                <a:ea typeface="Microsoft YaHei"/>
              </a:rPr>
              <a:t>摊销</a:t>
            </a:r>
            <a:r>
              <a:rPr sz="1300" b="1" dirty="0">
                <a:solidFill>
                  <a:srgbClr val="3A6EA5"/>
                </a:solidFill>
                <a:latin typeface="Microsoft YaHei"/>
                <a:ea typeface="Microsoft YaHei"/>
              </a:rPr>
              <a:t>(3 </a:t>
            </a:r>
            <a:r>
              <a:rPr sz="1300" b="1" dirty="0" err="1">
                <a:solidFill>
                  <a:srgbClr val="3A6EA5"/>
                </a:solidFill>
                <a:latin typeface="Microsoft YaHei"/>
                <a:ea typeface="Microsoft YaHei"/>
              </a:rPr>
              <a:t>维几何</a:t>
            </a:r>
            <a:r>
              <a:rPr sz="1300" b="1" dirty="0">
                <a:solidFill>
                  <a:srgbClr val="3A6EA5"/>
                </a:solidFill>
                <a:latin typeface="Microsoft YaHei"/>
                <a:ea typeface="Microsoft YaHei"/>
              </a:rPr>
              <a:t>)</a:t>
            </a:r>
          </a:p>
          <a:p>
            <a:pPr>
              <a:spcAft>
                <a:spcPts val="200"/>
              </a:spcAft>
            </a:pPr>
            <a:r>
              <a:rPr lang="zh-CN" altLang="en-US" sz="1150" b="1" dirty="0">
                <a:solidFill>
                  <a:srgbClr val="333333"/>
                </a:solidFill>
                <a:latin typeface="Microsoft YaHei"/>
                <a:ea typeface="Microsoft YaHei"/>
              </a:rPr>
              <a:t>探究</a:t>
            </a:r>
            <a:r>
              <a:rPr sz="1150" b="1" dirty="0">
                <a:solidFill>
                  <a:srgbClr val="333333"/>
                </a:solidFill>
                <a:latin typeface="Microsoft YaHei"/>
                <a:ea typeface="Microsoft YaHei"/>
              </a:rPr>
              <a:t>:</a:t>
            </a:r>
            <a:r>
              <a:rPr lang="en-US" sz="1150" b="1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1150" b="1" dirty="0" err="1">
                <a:solidFill>
                  <a:srgbClr val="333333"/>
                </a:solidFill>
                <a:latin typeface="Microsoft YaHei"/>
                <a:ea typeface="Microsoft YaHei"/>
              </a:rPr>
              <a:t>训练生成模型划算吗</a:t>
            </a:r>
            <a:r>
              <a:rPr sz="1150" b="1" dirty="0">
                <a:solidFill>
                  <a:srgbClr val="333333"/>
                </a:solidFill>
                <a:latin typeface="Microsoft YaHei"/>
                <a:ea typeface="Microsoft YaHei"/>
              </a:rPr>
              <a:t>?</a:t>
            </a:r>
          </a:p>
          <a:p>
            <a:pPr>
              <a:spcAft>
                <a:spcPts val="200"/>
              </a:spcAft>
            </a:pPr>
            <a:r>
              <a:rPr sz="115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老办法</a:t>
            </a:r>
            <a:r>
              <a:rPr sz="115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BO:每个新工况现场仿真</a:t>
            </a:r>
            <a:r>
              <a:rPr sz="1150" b="0" dirty="0">
                <a:solidFill>
                  <a:srgbClr val="333333"/>
                </a:solidFill>
                <a:latin typeface="Microsoft YaHei"/>
                <a:ea typeface="Microsoft YaHei"/>
              </a:rPr>
              <a:t> 9 </a:t>
            </a:r>
            <a:r>
              <a:rPr sz="115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次,才换</a:t>
            </a:r>
            <a:r>
              <a:rPr sz="1150" b="0" dirty="0">
                <a:solidFill>
                  <a:srgbClr val="333333"/>
                </a:solidFill>
                <a:latin typeface="Microsoft YaHei"/>
                <a:ea typeface="Microsoft YaHei"/>
              </a:rPr>
              <a:t> 1 </a:t>
            </a:r>
            <a:r>
              <a:rPr sz="115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个设计</a:t>
            </a:r>
            <a:r>
              <a:rPr sz="1150" b="0" dirty="0">
                <a:solidFill>
                  <a:srgbClr val="333333"/>
                </a:solidFill>
                <a:latin typeface="Microsoft YaHei"/>
                <a:ea typeface="Microsoft YaHei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15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新办法</a:t>
            </a:r>
            <a:r>
              <a:rPr sz="115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cVAE:一次训练后,任何新工况</a:t>
            </a:r>
            <a:r>
              <a:rPr sz="1150" b="0" dirty="0">
                <a:solidFill>
                  <a:srgbClr val="333333"/>
                </a:solidFill>
                <a:latin typeface="Microsoft YaHei"/>
                <a:ea typeface="Microsoft YaHei"/>
              </a:rPr>
              <a:t> 0 </a:t>
            </a:r>
            <a:r>
              <a:rPr sz="115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仿真直接出设计</a:t>
            </a:r>
            <a:r>
              <a:rPr sz="115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1000"/>
              </a:spcAft>
            </a:pPr>
            <a:r>
              <a:rPr lang="zh-CN" altLang="en-US" sz="1150" b="1" dirty="0">
                <a:solidFill>
                  <a:srgbClr val="333333"/>
                </a:solidFill>
                <a:latin typeface="Microsoft YaHei"/>
                <a:ea typeface="Microsoft YaHei"/>
              </a:rPr>
              <a:t>结论</a:t>
            </a:r>
            <a:r>
              <a:rPr sz="1150" b="1" dirty="0">
                <a:solidFill>
                  <a:srgbClr val="333333"/>
                </a:solidFill>
                <a:latin typeface="Microsoft YaHei"/>
                <a:ea typeface="Microsoft YaHei"/>
              </a:rPr>
              <a:t>:</a:t>
            </a:r>
            <a:r>
              <a:rPr lang="zh-CN" altLang="en-US" sz="1150" b="1" dirty="0">
                <a:solidFill>
                  <a:srgbClr val="333333"/>
                </a:solidFill>
                <a:latin typeface="Microsoft YaHei"/>
                <a:ea typeface="Microsoft YaHei"/>
              </a:rPr>
              <a:t>一轮</a:t>
            </a:r>
            <a:r>
              <a:rPr sz="1150" b="1" dirty="0" err="1">
                <a:solidFill>
                  <a:srgbClr val="333333"/>
                </a:solidFill>
                <a:latin typeface="Microsoft YaHei"/>
                <a:ea typeface="Microsoft YaHei"/>
              </a:rPr>
              <a:t>零仿真</a:t>
            </a:r>
            <a:r>
              <a:rPr lang="en-US" sz="1150" b="1" dirty="0" err="1">
                <a:solidFill>
                  <a:srgbClr val="333333"/>
                </a:solidFill>
                <a:latin typeface="Microsoft YaHei"/>
                <a:ea typeface="Microsoft YaHei"/>
              </a:rPr>
              <a:t>cVAE</a:t>
            </a:r>
            <a:r>
              <a:rPr sz="1150" b="1" dirty="0" err="1">
                <a:solidFill>
                  <a:srgbClr val="333333"/>
                </a:solidFill>
                <a:latin typeface="Microsoft YaHei"/>
                <a:ea typeface="Microsoft YaHei"/>
              </a:rPr>
              <a:t>质量</a:t>
            </a:r>
            <a:r>
              <a:rPr sz="1150" b="1" dirty="0">
                <a:solidFill>
                  <a:srgbClr val="333333"/>
                </a:solidFill>
                <a:latin typeface="Microsoft YaHei"/>
                <a:ea typeface="Microsoft YaHei"/>
              </a:rPr>
              <a:t> ≈ BO 的 97%,碾压同预算随机。</a:t>
            </a:r>
            <a:r>
              <a:rPr lang="zh-CN" altLang="en-US" sz="1150" b="1" dirty="0">
                <a:solidFill>
                  <a:srgbClr val="333333"/>
                </a:solidFill>
                <a:latin typeface="Microsoft YaHei"/>
                <a:ea typeface="Microsoft YaHei"/>
              </a:rPr>
              <a:t>但</a:t>
            </a:r>
            <a:r>
              <a:rPr lang="en-US" altLang="zh-CN" sz="1150" b="1" dirty="0">
                <a:solidFill>
                  <a:srgbClr val="333333"/>
                </a:solidFill>
                <a:latin typeface="Microsoft YaHei"/>
                <a:ea typeface="Microsoft YaHei"/>
              </a:rPr>
              <a:t>BO</a:t>
            </a:r>
            <a:r>
              <a:rPr lang="zh-CN" altLang="en-US" sz="1150" b="1" dirty="0">
                <a:solidFill>
                  <a:srgbClr val="333333"/>
                </a:solidFill>
                <a:latin typeface="Microsoft YaHei"/>
                <a:ea typeface="Microsoft YaHei"/>
              </a:rPr>
              <a:t>基本上每次都可以输出最佳答案。</a:t>
            </a:r>
            <a:endParaRPr sz="1150" b="1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>
              <a:spcAft>
                <a:spcPts val="300"/>
              </a:spcAft>
            </a:pPr>
            <a:r>
              <a:rPr sz="1300" b="1" dirty="0">
                <a:solidFill>
                  <a:srgbClr val="3A6EA5"/>
                </a:solidFill>
                <a:latin typeface="Microsoft YaHei"/>
                <a:ea typeface="Microsoft YaHei"/>
              </a:rPr>
              <a:t>E4 </a:t>
            </a:r>
            <a:r>
              <a:rPr sz="1300" b="1" dirty="0" err="1">
                <a:solidFill>
                  <a:srgbClr val="3A6EA5"/>
                </a:solidFill>
                <a:latin typeface="Microsoft YaHei"/>
                <a:ea typeface="Microsoft YaHei"/>
              </a:rPr>
              <a:t>扩维</a:t>
            </a:r>
            <a:r>
              <a:rPr sz="1300" b="1" dirty="0">
                <a:solidFill>
                  <a:srgbClr val="3A6EA5"/>
                </a:solidFill>
                <a:latin typeface="Microsoft YaHei"/>
                <a:ea typeface="Microsoft YaHei"/>
              </a:rPr>
              <a:t>(3→7 维)</a:t>
            </a:r>
          </a:p>
          <a:p>
            <a:pPr>
              <a:spcAft>
                <a:spcPts val="200"/>
              </a:spcAft>
            </a:pPr>
            <a:r>
              <a:rPr lang="zh-CN" altLang="en-US" sz="1150" b="1" dirty="0">
                <a:solidFill>
                  <a:srgbClr val="333333"/>
                </a:solidFill>
                <a:latin typeface="Microsoft YaHei"/>
                <a:ea typeface="Microsoft YaHei"/>
              </a:rPr>
              <a:t>探究</a:t>
            </a:r>
            <a:r>
              <a:rPr sz="1150" b="1" dirty="0">
                <a:solidFill>
                  <a:srgbClr val="333333"/>
                </a:solidFill>
                <a:latin typeface="Microsoft YaHei"/>
                <a:ea typeface="Microsoft YaHei"/>
              </a:rPr>
              <a:t>:</a:t>
            </a:r>
            <a:r>
              <a:rPr lang="en-US" sz="1150" b="1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1150" b="1" dirty="0" err="1">
                <a:solidFill>
                  <a:srgbClr val="333333"/>
                </a:solidFill>
                <a:latin typeface="Microsoft YaHei"/>
                <a:ea typeface="Microsoft YaHei"/>
              </a:rPr>
              <a:t>设计空间变大后,谁更强</a:t>
            </a:r>
            <a:r>
              <a:rPr sz="1150" b="1" dirty="0">
                <a:solidFill>
                  <a:srgbClr val="333333"/>
                </a:solidFill>
                <a:latin typeface="Microsoft YaHei"/>
                <a:ea typeface="Microsoft YaHei"/>
              </a:rPr>
              <a:t>?</a:t>
            </a:r>
          </a:p>
          <a:p>
            <a:pPr>
              <a:spcAft>
                <a:spcPts val="200"/>
              </a:spcAft>
            </a:pPr>
            <a:r>
              <a:rPr sz="115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新增</a:t>
            </a:r>
            <a:r>
              <a:rPr sz="1150" b="0" dirty="0">
                <a:solidFill>
                  <a:srgbClr val="333333"/>
                </a:solidFill>
                <a:latin typeface="Microsoft YaHei"/>
                <a:ea typeface="Microsoft YaHei"/>
              </a:rPr>
              <a:t> 4 维 = </a:t>
            </a:r>
            <a:r>
              <a:rPr sz="115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三个关节各自的刚度</a:t>
            </a:r>
            <a:r>
              <a:rPr sz="115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115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阻尼</a:t>
            </a:r>
            <a:r>
              <a:rPr sz="1150" b="0" dirty="0">
                <a:solidFill>
                  <a:srgbClr val="333333"/>
                </a:solidFill>
                <a:latin typeface="Microsoft YaHei"/>
                <a:ea typeface="Microsoft YaHei"/>
              </a:rPr>
              <a:t>(</a:t>
            </a:r>
            <a:r>
              <a:rPr sz="115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不再共用一条配簧规则</a:t>
            </a:r>
            <a:r>
              <a:rPr sz="1150" b="0" dirty="0">
                <a:solidFill>
                  <a:srgbClr val="333333"/>
                </a:solidFill>
                <a:latin typeface="Microsoft YaHei"/>
                <a:ea typeface="Microsoft YaHei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150" b="0" dirty="0">
                <a:solidFill>
                  <a:srgbClr val="333333"/>
                </a:solidFill>
                <a:latin typeface="Microsoft YaHei"/>
                <a:ea typeface="Microsoft YaHei"/>
              </a:rPr>
              <a:t>BO 9 </a:t>
            </a:r>
            <a:r>
              <a:rPr sz="115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次仿真在</a:t>
            </a:r>
            <a:r>
              <a:rPr sz="1150" b="0" dirty="0">
                <a:solidFill>
                  <a:srgbClr val="333333"/>
                </a:solidFill>
                <a:latin typeface="Microsoft YaHei"/>
                <a:ea typeface="Microsoft YaHei"/>
              </a:rPr>
              <a:t> 7 </a:t>
            </a:r>
            <a:r>
              <a:rPr sz="115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维不够用</a:t>
            </a:r>
            <a:r>
              <a:rPr sz="1150" b="0" dirty="0">
                <a:solidFill>
                  <a:srgbClr val="333333"/>
                </a:solidFill>
                <a:latin typeface="Microsoft YaHei"/>
                <a:ea typeface="Microsoft YaHei"/>
              </a:rPr>
              <a:t>,</a:t>
            </a:r>
            <a:r>
              <a:rPr lang="en-US" sz="115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150" dirty="0">
                <a:solidFill>
                  <a:srgbClr val="333333"/>
                </a:solidFill>
                <a:latin typeface="Microsoft YaHei"/>
                <a:ea typeface="Microsoft YaHei"/>
              </a:rPr>
              <a:t>能拿到 </a:t>
            </a:r>
            <a:r>
              <a:rPr lang="en-US" altLang="zh-CN" sz="1150" dirty="0">
                <a:solidFill>
                  <a:srgbClr val="333333"/>
                </a:solidFill>
                <a:latin typeface="Microsoft YaHei"/>
                <a:ea typeface="Microsoft YaHei"/>
              </a:rPr>
              <a:t>36.5% gap</a:t>
            </a:r>
            <a:r>
              <a:rPr lang="zh-CN" altLang="en-US" sz="1150" dirty="0">
                <a:solidFill>
                  <a:srgbClr val="333333"/>
                </a:solidFill>
                <a:latin typeface="Microsoft YaHei"/>
                <a:ea typeface="Microsoft YaHei"/>
              </a:rPr>
              <a:t>的中位数成绩。这个成绩与</a:t>
            </a:r>
            <a:r>
              <a:rPr sz="115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cVAE</a:t>
            </a:r>
            <a:r>
              <a:rPr sz="1150"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115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同档、零崩盘、还能一次出一族设计</a:t>
            </a:r>
            <a:r>
              <a:rPr sz="115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lang="en-US" sz="115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>
              <a:spcAft>
                <a:spcPts val="200"/>
              </a:spcAft>
            </a:pPr>
            <a:r>
              <a:rPr lang="zh-CN" altLang="en-US" sz="1150" b="1" dirty="0">
                <a:solidFill>
                  <a:srgbClr val="333333"/>
                </a:solidFill>
                <a:latin typeface="Microsoft YaHei"/>
                <a:ea typeface="Microsoft YaHei"/>
              </a:rPr>
              <a:t>结论：</a:t>
            </a:r>
            <a:r>
              <a:rPr lang="en-US" altLang="zh-CN" sz="1150" b="1" dirty="0" err="1">
                <a:solidFill>
                  <a:srgbClr val="333333"/>
                </a:solidFill>
                <a:latin typeface="Microsoft YaHei"/>
                <a:ea typeface="Microsoft YaHei"/>
              </a:rPr>
              <a:t>cVAE</a:t>
            </a:r>
            <a:r>
              <a:rPr lang="zh-CN" altLang="en-US" sz="1150" b="1" dirty="0">
                <a:solidFill>
                  <a:srgbClr val="333333"/>
                </a:solidFill>
                <a:latin typeface="Microsoft YaHei"/>
                <a:ea typeface="Microsoft YaHei"/>
              </a:rPr>
              <a:t>在高维领域开始崭露头角。</a:t>
            </a:r>
            <a:endParaRPr sz="1150" b="1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>
              <a:spcAft>
                <a:spcPts val="1000"/>
              </a:spcAft>
            </a:pPr>
            <a:r>
              <a:rPr lang="zh-CN" altLang="en-US" sz="1150" b="1" dirty="0">
                <a:solidFill>
                  <a:srgbClr val="8E2A34"/>
                </a:solidFill>
                <a:latin typeface="Microsoft YaHei"/>
                <a:ea typeface="Microsoft YaHei"/>
              </a:rPr>
              <a:t>额外</a:t>
            </a:r>
            <a:r>
              <a:rPr sz="1150" b="1" dirty="0" err="1">
                <a:solidFill>
                  <a:srgbClr val="8E2A34"/>
                </a:solidFill>
                <a:latin typeface="Microsoft YaHei"/>
                <a:ea typeface="Microsoft YaHei"/>
              </a:rPr>
              <a:t>红利</a:t>
            </a:r>
            <a:r>
              <a:rPr sz="1150" b="1" dirty="0">
                <a:solidFill>
                  <a:srgbClr val="8E2A34"/>
                </a:solidFill>
                <a:latin typeface="Microsoft YaHei"/>
                <a:ea typeface="Microsoft YaHei"/>
              </a:rPr>
              <a:t>:</a:t>
            </a:r>
            <a:r>
              <a:rPr lang="en-US" sz="1150" b="1" dirty="0">
                <a:solidFill>
                  <a:srgbClr val="8E2A34"/>
                </a:solidFill>
                <a:latin typeface="Microsoft YaHei"/>
                <a:ea typeface="Microsoft YaHei"/>
              </a:rPr>
              <a:t> </a:t>
            </a:r>
            <a:r>
              <a:rPr sz="1150" b="1" dirty="0" err="1">
                <a:solidFill>
                  <a:srgbClr val="8E2A34"/>
                </a:solidFill>
                <a:latin typeface="Microsoft YaHei"/>
                <a:ea typeface="Microsoft YaHei"/>
              </a:rPr>
              <a:t>解耦配簧把部分工况峰值压到</a:t>
            </a:r>
            <a:r>
              <a:rPr sz="1150" b="1" dirty="0">
                <a:solidFill>
                  <a:srgbClr val="8E2A34"/>
                </a:solidFill>
                <a:latin typeface="Microsoft YaHei"/>
                <a:ea typeface="Microsoft YaHei"/>
              </a:rPr>
              <a:t> 1.7–2.1g</a:t>
            </a:r>
            <a:r>
              <a:rPr lang="zh-CN" altLang="en-US" sz="1150" b="1" dirty="0">
                <a:solidFill>
                  <a:srgbClr val="8E2A34"/>
                </a:solidFill>
                <a:latin typeface="Microsoft YaHei"/>
                <a:ea typeface="Microsoft YaHei"/>
              </a:rPr>
              <a:t>，</a:t>
            </a:r>
            <a:r>
              <a:rPr sz="1150" b="1" dirty="0" err="1">
                <a:solidFill>
                  <a:srgbClr val="8E2A34"/>
                </a:solidFill>
                <a:latin typeface="Microsoft YaHei"/>
                <a:ea typeface="Microsoft YaHei"/>
              </a:rPr>
              <a:t>找到统一规则之外的更优解</a:t>
            </a:r>
            <a:r>
              <a:rPr sz="1150" b="1" dirty="0">
                <a:solidFill>
                  <a:srgbClr val="8E2A34"/>
                </a:solidFill>
                <a:latin typeface="Microsoft YaHei"/>
                <a:ea typeface="Microsoft YaHei"/>
              </a:rPr>
              <a:t>。</a:t>
            </a:r>
          </a:p>
          <a:p>
            <a:pPr>
              <a:spcAft>
                <a:spcPts val="0"/>
              </a:spcAft>
            </a:pPr>
            <a:r>
              <a:rPr sz="1000" b="0" dirty="0">
                <a:solidFill>
                  <a:schemeClr val="bg1">
                    <a:lumMod val="50000"/>
                  </a:schemeClr>
                </a:solidFill>
                <a:latin typeface="Microsoft YaHei"/>
                <a:ea typeface="Microsoft YaHei"/>
              </a:rPr>
              <a:t>(</a:t>
            </a:r>
            <a:r>
              <a:rPr sz="1000" b="0" dirty="0" err="1">
                <a:solidFill>
                  <a:schemeClr val="bg1">
                    <a:lumMod val="50000"/>
                  </a:schemeClr>
                </a:solidFill>
                <a:latin typeface="Microsoft YaHei"/>
                <a:ea typeface="Microsoft YaHei"/>
              </a:rPr>
              <a:t>方案里的</a:t>
            </a:r>
            <a:r>
              <a:rPr sz="1000" b="0" dirty="0">
                <a:solidFill>
                  <a:schemeClr val="bg1">
                    <a:lumMod val="50000"/>
                  </a:schemeClr>
                </a:solidFill>
                <a:latin typeface="Microsoft YaHei"/>
                <a:ea typeface="Microsoft YaHei"/>
              </a:rPr>
              <a:t> E2 </a:t>
            </a:r>
            <a:r>
              <a:rPr sz="1000" b="0" dirty="0" err="1">
                <a:solidFill>
                  <a:schemeClr val="bg1">
                    <a:lumMod val="50000"/>
                  </a:schemeClr>
                </a:solidFill>
                <a:latin typeface="Microsoft YaHei"/>
                <a:ea typeface="Microsoft YaHei"/>
              </a:rPr>
              <a:t>残差消融</a:t>
            </a:r>
            <a:r>
              <a:rPr sz="1000" b="0" dirty="0">
                <a:solidFill>
                  <a:schemeClr val="bg1">
                    <a:lumMod val="50000"/>
                  </a:schemeClr>
                </a:solidFill>
                <a:latin typeface="Microsoft YaHei"/>
                <a:ea typeface="Microsoft YaHei"/>
              </a:rPr>
              <a:t> / E3 </a:t>
            </a:r>
            <a:r>
              <a:rPr sz="1000" b="0" dirty="0" err="1">
                <a:solidFill>
                  <a:schemeClr val="bg1">
                    <a:lumMod val="50000"/>
                  </a:schemeClr>
                </a:solidFill>
                <a:latin typeface="Microsoft YaHei"/>
                <a:ea typeface="Microsoft YaHei"/>
              </a:rPr>
              <a:t>紧约束压测排期在后,本周先打通主线</a:t>
            </a:r>
            <a:r>
              <a:rPr sz="1000" b="0" dirty="0">
                <a:solidFill>
                  <a:schemeClr val="bg1">
                    <a:lumMod val="50000"/>
                  </a:schemeClr>
                </a:solidFill>
                <a:latin typeface="Microsoft YaHei"/>
                <a:ea typeface="Microsoft YaHei"/>
              </a:rPr>
              <a:t>)</a:t>
            </a:r>
            <a:endParaRPr lang="en-US" sz="1000" b="0" dirty="0">
              <a:solidFill>
                <a:schemeClr val="bg1">
                  <a:lumMod val="50000"/>
                </a:schemeClr>
              </a:solidFill>
              <a:latin typeface="Microsoft YaHei"/>
              <a:ea typeface="Microsoft YaHei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08ABA5F-8961-05FD-6522-367B066C9016}"/>
              </a:ext>
            </a:extLst>
          </p:cNvPr>
          <p:cNvSpPr txBox="1"/>
          <p:nvPr/>
        </p:nvSpPr>
        <p:spPr>
          <a:xfrm>
            <a:off x="333154" y="5323368"/>
            <a:ext cx="1170290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00" dirty="0">
                <a:latin typeface="Microsoft YaHei"/>
                <a:ea typeface="Microsoft YaHei"/>
              </a:rPr>
              <a:t>① LHS 随机(笨办法,下限)</a:t>
            </a:r>
            <a:br>
              <a:rPr lang="zh-CN" altLang="zh-CN" sz="1000" dirty="0">
                <a:latin typeface="Microsoft YaHei"/>
                <a:ea typeface="Microsoft YaHei"/>
              </a:rPr>
            </a:br>
            <a:r>
              <a:rPr lang="zh-CN" altLang="zh-CN" sz="1000" dirty="0">
                <a:latin typeface="Microsoft YaHei"/>
                <a:ea typeface="Microsoft YaHei"/>
              </a:rPr>
              <a:t>把 9 个设计均匀撒在设计空间里(LHS=拉丁超立方抽样,比纯随机撒得更匀,保证每个维度都覆盖到),9 个全部实摔,挑其中最好的可行解。它代表"纯碰运气"。谁连它都赢不了,谁就没资格上桌。</a:t>
            </a:r>
          </a:p>
          <a:p>
            <a:r>
              <a:rPr lang="zh-CN" altLang="zh-CN" sz="1000" dirty="0">
                <a:latin typeface="Microsoft YaHei"/>
                <a:ea typeface="Microsoft YaHei"/>
              </a:rPr>
              <a:t>② 标度律暖启动(带知识的办法)</a:t>
            </a:r>
            <a:br>
              <a:rPr lang="zh-CN" altLang="zh-CN" sz="1000" dirty="0">
                <a:latin typeface="Microsoft YaHei"/>
                <a:ea typeface="Microsoft YaHei"/>
              </a:rPr>
            </a:br>
            <a:r>
              <a:rPr lang="zh-CN" altLang="zh-CN" sz="1000" dirty="0">
                <a:latin typeface="Microsoft YaHei"/>
                <a:ea typeface="Microsoft YaHei"/>
              </a:rPr>
              <a:t>不瞎撒——先用我们前面研究出的鸟腿标度律公式,按体重直接算出一个"应该八九不离十"的起点(腿长 = 111.2·(m/10kg)^0.45,比例取实测中位数),然后在它附近做 8 个小扰动,9 个实摔取最好。它代表"把生物学知识写成一条公式"这条路。设它是为了回答一个尖锐问题:cVAE 学到的会不会只是这条公式? 如果 cVAE 赢不了它,说明生成模型白学了。</a:t>
            </a:r>
          </a:p>
          <a:p>
            <a:r>
              <a:rPr lang="zh-CN" altLang="zh-CN" sz="1000" dirty="0">
                <a:latin typeface="Microsoft YaHei"/>
                <a:ea typeface="Microsoft YaHei"/>
              </a:rPr>
              <a:t>③ BO-9(</a:t>
            </a:r>
            <a:r>
              <a:rPr lang="zh-CN" altLang="en-US" sz="1000" dirty="0">
                <a:latin typeface="Microsoft YaHei"/>
                <a:ea typeface="Microsoft YaHei"/>
              </a:rPr>
              <a:t>用和蓝本一样的贝叶斯方法，但是具体实施并不同</a:t>
            </a:r>
            <a:r>
              <a:rPr lang="zh-CN" altLang="zh-CN" sz="1000" dirty="0">
                <a:latin typeface="Microsoft YaHei"/>
                <a:ea typeface="Microsoft YaHei"/>
              </a:rPr>
              <a:t>)</a:t>
            </a:r>
            <a:br>
              <a:rPr lang="zh-CN" altLang="zh-CN" sz="1000" dirty="0">
                <a:latin typeface="Microsoft YaHei"/>
                <a:ea typeface="Microsoft YaHei"/>
              </a:rPr>
            </a:br>
            <a:r>
              <a:rPr lang="zh-CN" altLang="zh-CN" sz="1000" dirty="0">
                <a:latin typeface="Microsoft YaHei"/>
                <a:ea typeface="Microsoft YaHei"/>
              </a:rPr>
              <a:t>贝叶斯优化:先撒 4 个点探路,之后每一步都用前面的结果推测“哪里最有希望”,把剩下 5 次机会一次一次砸在最有希望的位置上。这是“逐工况认真优化”范式的代表,也是蓝本论文同款思路(GPR+贝叶斯优化)的</a:t>
            </a:r>
            <a:r>
              <a:rPr lang="zh-CN" altLang="en-US" sz="1000" dirty="0">
                <a:latin typeface="Microsoft YaHei"/>
                <a:ea typeface="Microsoft YaHei"/>
              </a:rPr>
              <a:t>复刻版本，是主要的参考目标</a:t>
            </a:r>
            <a:r>
              <a:rPr lang="zh-CN" altLang="zh-CN" sz="1000" dirty="0">
                <a:latin typeface="Microsoft YaHei"/>
                <a:ea typeface="Microsoft YaHei"/>
              </a:rPr>
              <a:t>。</a:t>
            </a:r>
          </a:p>
          <a:p>
            <a:r>
              <a:rPr lang="zh-CN" altLang="en-US" sz="1400" dirty="0">
                <a:solidFill>
                  <a:srgbClr val="C00000"/>
                </a:solidFill>
              </a:rPr>
              <a:t>注意，这里的</a:t>
            </a:r>
            <a:r>
              <a:rPr lang="en-US" altLang="zh-CN" sz="1400" dirty="0" err="1">
                <a:solidFill>
                  <a:srgbClr val="C00000"/>
                </a:solidFill>
              </a:rPr>
              <a:t>cVAE</a:t>
            </a:r>
            <a:r>
              <a:rPr lang="zh-CN" altLang="en-US" sz="1400" dirty="0">
                <a:solidFill>
                  <a:srgbClr val="C00000"/>
                </a:solidFill>
              </a:rPr>
              <a:t>是不做仿真在环和回灌的，他就是直接拿</a:t>
            </a:r>
            <a:r>
              <a:rPr lang="en-US" altLang="zh-CN" sz="1400" dirty="0">
                <a:solidFill>
                  <a:srgbClr val="7030A0"/>
                </a:solidFill>
              </a:rPr>
              <a:t>S7B</a:t>
            </a:r>
            <a:r>
              <a:rPr lang="zh-CN" altLang="en-US" sz="1400" dirty="0">
                <a:solidFill>
                  <a:srgbClr val="7030A0"/>
                </a:solidFill>
              </a:rPr>
              <a:t>阶段</a:t>
            </a:r>
            <a:r>
              <a:rPr lang="zh-CN" altLang="en-US" sz="1400" dirty="0">
                <a:solidFill>
                  <a:srgbClr val="C00000"/>
                </a:solidFill>
              </a:rPr>
              <a:t>的数据做，然后直接验证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C33EE5E2-F9C3-61AD-7ED3-E0F1191CCCA0}"/>
              </a:ext>
            </a:extLst>
          </p:cNvPr>
          <p:cNvSpPr/>
          <p:nvPr/>
        </p:nvSpPr>
        <p:spPr>
          <a:xfrm>
            <a:off x="792344" y="5657670"/>
            <a:ext cx="11087768" cy="88939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A1EAD8E-1B8D-2A6E-93DB-CA8FA1AEA858}"/>
              </a:ext>
            </a:extLst>
          </p:cNvPr>
          <p:cNvSpPr txBox="1"/>
          <p:nvPr/>
        </p:nvSpPr>
        <p:spPr>
          <a:xfrm>
            <a:off x="502920" y="274320"/>
            <a:ext cx="9509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400" b="1" dirty="0">
                <a:solidFill>
                  <a:srgbClr val="8E2A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训练数据构建：</a:t>
            </a:r>
            <a:r>
              <a:rPr lang="en-US" altLang="zh-CN" sz="2400" b="1" dirty="0">
                <a:solidFill>
                  <a:srgbClr val="8E2A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S7A-&gt;B</a:t>
            </a:r>
            <a:endParaRPr sz="2400" b="1" dirty="0">
              <a:solidFill>
                <a:srgbClr val="8E2A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3D3091B-CF6E-CB7E-A93E-55A1794127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852"/>
          <a:stretch>
            <a:fillRect/>
          </a:stretch>
        </p:blipFill>
        <p:spPr>
          <a:xfrm>
            <a:off x="6251167" y="2939687"/>
            <a:ext cx="5628945" cy="238897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F533CAE-20C4-CC34-2CBC-73B06295AC3A}"/>
              </a:ext>
            </a:extLst>
          </p:cNvPr>
          <p:cNvSpPr txBox="1"/>
          <p:nvPr/>
        </p:nvSpPr>
        <p:spPr>
          <a:xfrm>
            <a:off x="6251167" y="1071799"/>
            <a:ext cx="523022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S7B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：建立训练集 三次筛选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一次分流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   对每个工况</a:t>
            </a:r>
            <a:r>
              <a:rPr lang="en-US" altLang="zh-CN" dirty="0"/>
              <a:t>,</a:t>
            </a:r>
            <a:r>
              <a:rPr lang="zh-CN" altLang="en-US" dirty="0"/>
              <a:t>先掷骰子生成</a:t>
            </a:r>
            <a:r>
              <a:rPr lang="en-US" altLang="zh-CN" dirty="0"/>
              <a:t>6</a:t>
            </a:r>
            <a:r>
              <a:rPr lang="zh-CN" altLang="en-US" dirty="0"/>
              <a:t>套</a:t>
            </a:r>
            <a:r>
              <a:rPr lang="en-US" altLang="zh-CN" dirty="0"/>
              <a:t>"</a:t>
            </a:r>
            <a:r>
              <a:rPr lang="zh-CN" altLang="en-US" dirty="0"/>
              <a:t>客户要求</a:t>
            </a:r>
            <a:r>
              <a:rPr lang="en-US" altLang="zh-CN" dirty="0"/>
              <a:t>"(</a:t>
            </a:r>
            <a:r>
              <a:rPr lang="zh-CN" altLang="en-US" dirty="0"/>
              <a:t>过载上限 </a:t>
            </a:r>
            <a:r>
              <a:rPr lang="en-US" altLang="zh-CN" dirty="0"/>
              <a:t>4-15g</a:t>
            </a:r>
            <a:r>
              <a:rPr lang="zh-CN" altLang="en-US" dirty="0"/>
              <a:t>均匀抽、行程上限 </a:t>
            </a:r>
            <a:r>
              <a:rPr lang="en-US" altLang="zh-CN" dirty="0"/>
              <a:t>8-40mm</a:t>
            </a:r>
            <a:r>
              <a:rPr lang="zh-CN" altLang="en-US" dirty="0"/>
              <a:t>均匀抽</a:t>
            </a:r>
            <a:r>
              <a:rPr lang="en-US" altLang="zh-CN" dirty="0"/>
              <a:t>),</a:t>
            </a:r>
            <a:r>
              <a:rPr lang="zh-CN" altLang="en-US" dirty="0"/>
              <a:t>然后每套要求下过闸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D1E00E-FE8A-AC28-708E-380FC3DFA104}"/>
              </a:ext>
            </a:extLst>
          </p:cNvPr>
          <p:cNvSpPr txBox="1"/>
          <p:nvPr/>
        </p:nvSpPr>
        <p:spPr>
          <a:xfrm>
            <a:off x="792344" y="1071799"/>
            <a:ext cx="5230224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S7A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普查,不筛选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，只要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工况和涉及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范围内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就入选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zh-CN" altLang="zh-CN" dirty="0"/>
          </a:p>
          <a:p>
            <a:pPr lvl="0"/>
            <a:r>
              <a:rPr lang="en-US" altLang="zh-CN" dirty="0"/>
              <a:t>     </a:t>
            </a:r>
            <a:r>
              <a:rPr lang="zh-CN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工况: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dirty="0"/>
              <a:t>在 (体重 1–12kg) × (速度 0.5–2.0 m/s) 的框里 LHS 均匀撒 500 个点——不挑"合理组合",框内任意组合都要;</a:t>
            </a:r>
            <a:endParaRPr lang="en-US" altLang="zh-CN" dirty="0"/>
          </a:p>
          <a:p>
            <a:pPr lvl="0"/>
            <a:endParaRPr lang="zh-CN" altLang="zh-CN" dirty="0"/>
          </a:p>
          <a:p>
            <a:pPr lvl="0"/>
            <a:r>
              <a:rPr lang="en-US" altLang="zh-CN" dirty="0"/>
              <a:t>    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设计: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dirty="0"/>
              <a:t>每个工况配 120 个设计,在 7 维框里 LHS 撒(几何三维用实测</a:t>
            </a:r>
            <a:r>
              <a:rPr lang="zh-CN" altLang="en-US" dirty="0"/>
              <a:t>生物数据</a:t>
            </a:r>
            <a:r>
              <a:rPr lang="zh-CN" altLang="zh-CN" dirty="0"/>
              <a:t>,</a:t>
            </a:r>
            <a:r>
              <a:rPr lang="en-US" altLang="zh-CN" dirty="0"/>
              <a:t> </a:t>
            </a:r>
            <a:r>
              <a:rPr lang="zh-CN" altLang="en-US" dirty="0"/>
              <a:t>三个关节的</a:t>
            </a:r>
            <a:r>
              <a:rPr lang="zh-CN" altLang="zh-CN" dirty="0"/>
              <a:t>刚度</a:t>
            </a:r>
            <a:r>
              <a:rPr lang="zh-CN" altLang="en-US" dirty="0"/>
              <a:t>，和一个共用的</a:t>
            </a:r>
            <a:r>
              <a:rPr lang="zh-CN" altLang="zh-CN" dirty="0"/>
              <a:t>阻尼</a:t>
            </a:r>
            <a:r>
              <a:rPr lang="zh-CN" altLang="en-US" dirty="0"/>
              <a:t>，组成七</a:t>
            </a:r>
            <a:r>
              <a:rPr lang="zh-CN" altLang="zh-CN" dirty="0"/>
              <a:t>维工程范围);</a:t>
            </a:r>
            <a:endParaRPr lang="en-US" altLang="zh-CN" dirty="0"/>
          </a:p>
          <a:p>
            <a:pPr lvl="0"/>
            <a:endParaRPr lang="zh-CN" altLang="zh-CN" dirty="0"/>
          </a:p>
          <a:p>
            <a:pPr lvl="0"/>
            <a:r>
              <a:rPr lang="en-US" altLang="zh-CN" b="1" dirty="0"/>
              <a:t>   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数据池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zh-CN" dirty="0"/>
              <a:t>包括摔坏的</a:t>
            </a:r>
            <a:r>
              <a:rPr lang="en-US" altLang="zh-CN" dirty="0"/>
              <a:t>,</a:t>
            </a:r>
            <a:r>
              <a:rPr lang="zh-CN" altLang="zh-CN" dirty="0"/>
              <a:t>塌陷(行程&gt;60%)和算崩的记 NaN 也存档,不丢。工厂的任务是</a:t>
            </a:r>
            <a:r>
              <a:rPr lang="zh-CN" altLang="zh-CN" b="1" dirty="0"/>
              <a:t>画地图</a:t>
            </a:r>
            <a:r>
              <a:rPr lang="zh-CN" altLang="zh-CN" dirty="0"/>
              <a:t>,不是选优。而且过载上限、行程上限这些“客户要求”是事后才定的</a:t>
            </a:r>
            <a:r>
              <a:rPr lang="zh-CN" altLang="en-US" dirty="0"/>
              <a:t>。所以策略是</a:t>
            </a:r>
            <a:r>
              <a:rPr lang="zh-CN" altLang="zh-CN" dirty="0"/>
              <a:t>全存着,以后任何要求组合都能免费重新筛,不用重</a:t>
            </a:r>
            <a:r>
              <a:rPr lang="zh-CN" altLang="en-US" dirty="0"/>
              <a:t>新走仿真流程</a:t>
            </a:r>
            <a:r>
              <a:rPr lang="zh-CN" altLang="zh-CN" dirty="0"/>
              <a:t>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410F9C-86BA-C88B-F5A2-9D443E4B8F15}"/>
              </a:ext>
            </a:extLst>
          </p:cNvPr>
          <p:cNvSpPr txBox="1"/>
          <p:nvPr/>
        </p:nvSpPr>
        <p:spPr>
          <a:xfrm>
            <a:off x="1496286" y="5660350"/>
            <a:ext cx="95097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通过这个方法一共构建出了十万条训练对，数据集的服务目标是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输入： </a:t>
            </a:r>
            <a:r>
              <a:rPr lang="en-US" altLang="zh-CN" b="1" dirty="0"/>
              <a:t>4 </a:t>
            </a:r>
            <a:r>
              <a:rPr lang="zh-CN" altLang="en-US" b="1" dirty="0"/>
              <a:t>维度：</a:t>
            </a:r>
            <a:r>
              <a:rPr lang="en-US" altLang="zh-CN" b="1" dirty="0"/>
              <a:t>  </a:t>
            </a:r>
            <a:r>
              <a:rPr lang="zh-CN" altLang="en-US" b="1" dirty="0"/>
              <a:t>体重 </a:t>
            </a:r>
            <a:r>
              <a:rPr lang="en-US" altLang="zh-CN" b="1" dirty="0"/>
              <a:t>m</a:t>
            </a:r>
            <a:r>
              <a:rPr lang="zh-CN" altLang="en-US" b="1" dirty="0"/>
              <a:t>、速度 </a:t>
            </a:r>
            <a:r>
              <a:rPr lang="en-US" altLang="zh-CN" b="1" dirty="0"/>
              <a:t>v0</a:t>
            </a:r>
            <a:r>
              <a:rPr lang="zh-CN" altLang="en-US" b="1" dirty="0"/>
              <a:t>、过载上限 </a:t>
            </a:r>
            <a:r>
              <a:rPr lang="en-US" altLang="zh-CN" b="1" dirty="0" err="1"/>
              <a:t>g_cap</a:t>
            </a:r>
            <a:r>
              <a:rPr lang="zh-CN" altLang="en-US" b="1" dirty="0"/>
              <a:t>、行程上限 </a:t>
            </a:r>
            <a:r>
              <a:rPr lang="en-US" altLang="zh-CN" b="1" dirty="0" err="1"/>
              <a:t>s_max</a:t>
            </a:r>
            <a:endParaRPr lang="en-US" altLang="zh-CN" b="1" dirty="0"/>
          </a:p>
          <a:p>
            <a:r>
              <a:rPr lang="zh-CN" altLang="en-US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目标： </a:t>
            </a:r>
            <a:r>
              <a:rPr lang="en-US" altLang="zh-CN" b="1" dirty="0"/>
              <a:t>7</a:t>
            </a:r>
            <a:r>
              <a:rPr lang="zh-CN" altLang="en-US" b="1" dirty="0"/>
              <a:t>维度： 三段几何 </a:t>
            </a:r>
            <a:r>
              <a:rPr lang="en-US" altLang="zh-CN" b="1" dirty="0"/>
              <a:t>+ </a:t>
            </a:r>
            <a:r>
              <a:rPr lang="zh-CN" altLang="en-US" b="1" dirty="0"/>
              <a:t>三关节刚度 </a:t>
            </a:r>
            <a:r>
              <a:rPr lang="en-US" altLang="zh-CN" b="1" dirty="0"/>
              <a:t>+ </a:t>
            </a:r>
            <a:r>
              <a:rPr lang="zh-CN" altLang="en-US" b="1" dirty="0"/>
              <a:t>阻尼比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4EB4C169-D63F-4862-FE79-1D910AFC4932}"/>
              </a:ext>
            </a:extLst>
          </p:cNvPr>
          <p:cNvSpPr/>
          <p:nvPr/>
        </p:nvSpPr>
        <p:spPr>
          <a:xfrm>
            <a:off x="2969306" y="6268526"/>
            <a:ext cx="324867" cy="278536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086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A7AE7306-1349-749E-5797-7080A9CF9EB7}"/>
              </a:ext>
            </a:extLst>
          </p:cNvPr>
          <p:cNvSpPr txBox="1"/>
          <p:nvPr/>
        </p:nvSpPr>
        <p:spPr>
          <a:xfrm>
            <a:off x="502920" y="274320"/>
            <a:ext cx="9509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zh-CN" sz="2400" b="1" dirty="0" err="1">
                <a:solidFill>
                  <a:srgbClr val="8E2A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cVAE</a:t>
            </a:r>
            <a:r>
              <a:rPr lang="zh-CN" altLang="en-US" sz="2400" b="1" dirty="0">
                <a:solidFill>
                  <a:srgbClr val="8E2A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生成架构：</a:t>
            </a:r>
            <a:r>
              <a:rPr lang="en-US" altLang="zh-CN" sz="2400" b="1" dirty="0">
                <a:solidFill>
                  <a:srgbClr val="8E2A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S7C -&gt; D</a:t>
            </a:r>
            <a:endParaRPr sz="2400" b="1" dirty="0">
              <a:solidFill>
                <a:srgbClr val="8E2A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8434D7-5C78-461C-2807-0BD7C4D8F735}"/>
              </a:ext>
            </a:extLst>
          </p:cNvPr>
          <p:cNvSpPr txBox="1"/>
          <p:nvPr/>
        </p:nvSpPr>
        <p:spPr>
          <a:xfrm>
            <a:off x="740735" y="1841079"/>
            <a:ext cx="96118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部署阶段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C00000"/>
              </a:solidFill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7F2D32"/>
                </a:solidFill>
              </a:rPr>
              <a:t>输入</a:t>
            </a:r>
            <a:r>
              <a:rPr lang="en-US" altLang="zh-CN" b="1" dirty="0">
                <a:solidFill>
                  <a:srgbClr val="7F2D32"/>
                </a:solidFill>
              </a:rPr>
              <a:t>: </a:t>
            </a:r>
            <a:r>
              <a:rPr lang="zh-CN" altLang="en-US" dirty="0"/>
              <a:t>工况 </a:t>
            </a:r>
            <a:r>
              <a:rPr lang="en-US" altLang="zh-CN" dirty="0"/>
              <a:t>c(4 </a:t>
            </a:r>
            <a:r>
              <a:rPr lang="zh-CN" altLang="en-US" dirty="0"/>
              <a:t>个数</a:t>
            </a:r>
            <a:r>
              <a:rPr lang="en-US" altLang="zh-CN" dirty="0"/>
              <a:t>:</a:t>
            </a:r>
            <a:r>
              <a:rPr lang="zh-CN" altLang="en-US" dirty="0"/>
              <a:t>体重、速度、过载上限、行程</a:t>
            </a:r>
            <a:endParaRPr lang="en-US" altLang="zh-CN" dirty="0"/>
          </a:p>
          <a:p>
            <a:r>
              <a:rPr lang="zh-CN" altLang="en-US" dirty="0"/>
              <a:t>上限</a:t>
            </a:r>
            <a:r>
              <a:rPr lang="en-US" altLang="zh-CN" dirty="0"/>
              <a:t>) + </a:t>
            </a:r>
            <a:r>
              <a:rPr lang="zh-CN" altLang="en-US" dirty="0"/>
              <a:t>一把骰子 </a:t>
            </a:r>
            <a:r>
              <a:rPr lang="en-US" altLang="zh-CN" dirty="0"/>
              <a:t>z(3 </a:t>
            </a:r>
            <a:r>
              <a:rPr lang="zh-CN" altLang="en-US" dirty="0"/>
              <a:t>个随机数</a:t>
            </a:r>
            <a:r>
              <a:rPr lang="en-US" altLang="zh-CN" dirty="0"/>
              <a:t>,</a:t>
            </a:r>
            <a:r>
              <a:rPr lang="zh-CN" altLang="en-US" dirty="0"/>
              <a:t>从标准正态里抽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zh-CN" altLang="en-US" b="1" dirty="0">
                <a:solidFill>
                  <a:srgbClr val="7F2D32"/>
                </a:solidFill>
              </a:rPr>
              <a:t>输出</a:t>
            </a:r>
            <a:r>
              <a:rPr lang="en-US" altLang="zh-CN" b="1" dirty="0">
                <a:solidFill>
                  <a:srgbClr val="7F2D32"/>
                </a:solidFill>
              </a:rPr>
              <a:t>: </a:t>
            </a:r>
            <a:r>
              <a:rPr lang="zh-CN" altLang="en-US" dirty="0"/>
              <a:t>一个设计 </a:t>
            </a:r>
            <a:r>
              <a:rPr lang="en-US" altLang="zh-CN" dirty="0"/>
              <a:t>x(7 </a:t>
            </a:r>
            <a:r>
              <a:rPr lang="zh-CN" altLang="en-US" dirty="0"/>
              <a:t>个数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CECB26-00A1-1BDE-5491-5DE19D28D16E}"/>
              </a:ext>
            </a:extLst>
          </p:cNvPr>
          <p:cNvSpPr txBox="1"/>
          <p:nvPr/>
        </p:nvSpPr>
        <p:spPr>
          <a:xfrm>
            <a:off x="740735" y="4001260"/>
            <a:ext cx="1116418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推理阶段 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C00000"/>
              </a:solidFill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7F2D32"/>
                </a:solidFill>
              </a:rPr>
              <a:t>编码器</a:t>
            </a:r>
            <a:r>
              <a:rPr lang="en-US" altLang="zh-CN" b="1" dirty="0">
                <a:solidFill>
                  <a:srgbClr val="7F2D32"/>
                </a:solidFill>
              </a:rPr>
              <a:t>:  </a:t>
            </a:r>
            <a:r>
              <a:rPr lang="en-US" altLang="zh-CN" dirty="0"/>
              <a:t>[</a:t>
            </a:r>
            <a:r>
              <a:rPr lang="zh-CN" altLang="en-US" dirty="0"/>
              <a:t>设计 </a:t>
            </a:r>
            <a:r>
              <a:rPr lang="en-US" altLang="zh-CN" dirty="0"/>
              <a:t>x(7) + </a:t>
            </a:r>
            <a:r>
              <a:rPr lang="zh-CN" altLang="en-US" dirty="0"/>
              <a:t>工况 </a:t>
            </a:r>
            <a:r>
              <a:rPr lang="en-US" altLang="zh-CN" dirty="0"/>
              <a:t>c(4)] → </a:t>
            </a:r>
            <a:r>
              <a:rPr lang="zh-CN" altLang="en-US" dirty="0"/>
              <a:t>压成 </a:t>
            </a:r>
            <a:r>
              <a:rPr lang="en-US" altLang="zh-CN" dirty="0"/>
              <a:t>z(3 </a:t>
            </a:r>
            <a:r>
              <a:rPr lang="zh-CN" altLang="en-US" dirty="0"/>
              <a:t>个数</a:t>
            </a:r>
            <a:r>
              <a:rPr lang="en-US" altLang="zh-CN" dirty="0"/>
              <a:t>)     ←“</a:t>
            </a:r>
            <a:r>
              <a:rPr lang="zh-CN" altLang="en-US" dirty="0"/>
              <a:t>这个答案的解法风格是什么</a:t>
            </a:r>
            <a:r>
              <a:rPr lang="en-US" altLang="zh-CN" dirty="0"/>
              <a:t>" </a:t>
            </a:r>
            <a:r>
              <a:rPr lang="zh-CN" altLang="en-US" dirty="0"/>
              <a:t>，提取特征，降维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>
                <a:solidFill>
                  <a:srgbClr val="7F2D32"/>
                </a:solidFill>
              </a:rPr>
              <a:t>解码器</a:t>
            </a:r>
            <a:r>
              <a:rPr lang="en-US" altLang="zh-CN" b="1" dirty="0">
                <a:solidFill>
                  <a:srgbClr val="7F2D32"/>
                </a:solidFill>
              </a:rPr>
              <a:t>:  </a:t>
            </a:r>
            <a:r>
              <a:rPr lang="en-US" altLang="zh-CN" dirty="0"/>
              <a:t>[z(3) + </a:t>
            </a:r>
            <a:r>
              <a:rPr lang="zh-CN" altLang="en-US" dirty="0"/>
              <a:t>工况 </a:t>
            </a:r>
            <a:r>
              <a:rPr lang="en-US" altLang="zh-CN" dirty="0"/>
              <a:t>c(4)] → </a:t>
            </a:r>
            <a:r>
              <a:rPr lang="zh-CN" altLang="en-US" dirty="0"/>
              <a:t>重构出设计 </a:t>
            </a:r>
            <a:r>
              <a:rPr lang="en-US" altLang="zh-CN" dirty="0"/>
              <a:t>x̂(7)          ←“</a:t>
            </a:r>
            <a:r>
              <a:rPr lang="zh-CN" altLang="en-US" dirty="0"/>
              <a:t>根据风格</a:t>
            </a:r>
            <a:r>
              <a:rPr lang="en-US" altLang="zh-CN" dirty="0"/>
              <a:t>+</a:t>
            </a:r>
            <a:r>
              <a:rPr lang="zh-CN" altLang="en-US" dirty="0"/>
              <a:t>题目</a:t>
            </a:r>
            <a:r>
              <a:rPr lang="en-US" altLang="zh-CN" dirty="0"/>
              <a:t>,</a:t>
            </a:r>
            <a:r>
              <a:rPr lang="zh-CN" altLang="en-US" dirty="0"/>
              <a:t>还原答案</a:t>
            </a:r>
            <a:r>
              <a:rPr lang="en-US" altLang="zh-CN" dirty="0"/>
              <a:t>”</a:t>
            </a:r>
            <a:r>
              <a:rPr lang="zh-CN" altLang="en-US" dirty="0"/>
              <a:t>，升维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>
                <a:solidFill>
                  <a:srgbClr val="7F2D32"/>
                </a:solidFill>
              </a:rPr>
              <a:t>Loss </a:t>
            </a:r>
            <a:r>
              <a:rPr lang="en-US" altLang="zh-CN" dirty="0"/>
              <a:t>(</a:t>
            </a:r>
            <a:r>
              <a:rPr lang="zh-CN" altLang="en-US" dirty="0"/>
              <a:t>负</a:t>
            </a:r>
            <a:r>
              <a:rPr lang="en-US" altLang="zh-CN" dirty="0"/>
              <a:t>ELBO) =  ‖x̂ − x‖²(</a:t>
            </a:r>
            <a:r>
              <a:rPr lang="zh-CN" altLang="en-US" dirty="0"/>
              <a:t>还原得像不像</a:t>
            </a:r>
            <a:r>
              <a:rPr lang="en-US" altLang="zh-CN" dirty="0"/>
              <a:t>) + β·KL(</a:t>
            </a:r>
            <a:r>
              <a:rPr lang="zh-CN" altLang="en-US" dirty="0"/>
              <a:t>变分正则项</a:t>
            </a:r>
            <a:r>
              <a:rPr lang="en-US" altLang="zh-CN" dirty="0"/>
              <a:t>)</a:t>
            </a: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F9792A-B6DE-0E29-0D14-6DBCECE2686D}"/>
              </a:ext>
            </a:extLst>
          </p:cNvPr>
          <p:cNvSpPr txBox="1"/>
          <p:nvPr/>
        </p:nvSpPr>
        <p:spPr>
          <a:xfrm>
            <a:off x="740735" y="1084153"/>
            <a:ext cx="10710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   </a:t>
            </a:r>
            <a:r>
              <a:rPr lang="zh-CN" altLang="en-US" b="1" dirty="0"/>
              <a:t>生成框架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(S7C)</a:t>
            </a:r>
            <a:r>
              <a:rPr lang="zh-CN" altLang="zh-CN" b="1" dirty="0"/>
              <a:t>采用条件变分自编码器(cVAE),以负 ELBO 为训练目标,其中 KL 先验匹配项按 β-VAE 方式加权(β=0.02)并采用线性退火,以避免后验坍缩、保证隐空间可采样性。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426305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FDC69119-4746-4367-4680-D26493346EF5}"/>
              </a:ext>
            </a:extLst>
          </p:cNvPr>
          <p:cNvSpPr txBox="1"/>
          <p:nvPr/>
        </p:nvSpPr>
        <p:spPr>
          <a:xfrm>
            <a:off x="502920" y="274320"/>
            <a:ext cx="9509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400" b="1" dirty="0">
                <a:solidFill>
                  <a:srgbClr val="8E2A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生成数据检验：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S7D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8E2A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sz="2400" b="1" dirty="0">
              <a:solidFill>
                <a:srgbClr val="8E2A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002C55F-254E-F5DE-FE84-9CEC121E713A}"/>
              </a:ext>
            </a:extLst>
          </p:cNvPr>
          <p:cNvSpPr txBox="1"/>
          <p:nvPr/>
        </p:nvSpPr>
        <p:spPr>
          <a:xfrm>
            <a:off x="630864" y="1024407"/>
            <a:ext cx="1137683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zh-CN" b="1" dirty="0">
                <a:solidFill>
                  <a:srgbClr val="C00000"/>
                </a:solidFill>
              </a:rPr>
              <a:t>考题(冻结的 76 道之一)</a:t>
            </a:r>
            <a:r>
              <a:rPr lang="zh-CN" altLang="zh-CN" dirty="0">
                <a:solidFill>
                  <a:srgbClr val="C00000"/>
                </a:solidFill>
              </a:rPr>
              <a:t>:</a:t>
            </a:r>
            <a:r>
              <a:rPr lang="zh-CN" altLang="zh-CN" dirty="0"/>
              <a:t>体重 6.8kg、落速 0.73 m/s,要求:过载 ≤ 12.7g、下蹲 ≤ 23mm。</a:t>
            </a:r>
          </a:p>
          <a:p>
            <a:pPr rtl="0">
              <a:buNone/>
            </a:pPr>
            <a:r>
              <a:rPr lang="zh-CN" altLang="zh-CN" b="1" dirty="0">
                <a:solidFill>
                  <a:srgbClr val="C00000"/>
                </a:solidFill>
              </a:rPr>
              <a:t>第 0 步 · 满分线(出题时定好,永久缓存)</a:t>
            </a:r>
            <a:r>
              <a:rPr lang="zh-CN" altLang="zh-CN" dirty="0">
                <a:solidFill>
                  <a:srgbClr val="C00000"/>
                </a:solidFill>
              </a:rPr>
              <a:t>:</a:t>
            </a:r>
            <a:r>
              <a:rPr lang="zh-CN" altLang="zh-CN" dirty="0"/>
              <a:t>出题当天在设计空间里新撒 300 个随机设计、全部实摔,筛出满足本题要求的,其中</a:t>
            </a:r>
            <a:r>
              <a:rPr lang="zh-CN" altLang="zh-CN" b="1" dirty="0"/>
              <a:t>最低峰值过载 = 满分线</a:t>
            </a:r>
            <a:r>
              <a:rPr lang="zh-CN" altLang="zh-CN" dirty="0"/>
              <a:t>(比如 3.99g);顺手记下这些可行设计的</a:t>
            </a:r>
            <a:r>
              <a:rPr lang="zh-CN" altLang="zh-CN" b="1" dirty="0"/>
              <a:t>行程跨度</a:t>
            </a:r>
            <a:r>
              <a:rPr lang="zh-CN" altLang="zh-CN" dirty="0"/>
              <a:t>(比如最短蹲 8mm 到最深蹲 21mm,跨度 13mm)——这是覆盖率的分母。</a:t>
            </a:r>
          </a:p>
          <a:p>
            <a:pPr rtl="0">
              <a:buNone/>
            </a:pPr>
            <a:r>
              <a:rPr lang="zh-CN" altLang="zh-CN" b="1" dirty="0">
                <a:solidFill>
                  <a:srgbClr val="C00000"/>
                </a:solidFill>
              </a:rPr>
              <a:t>第 1 步 · 答题</a:t>
            </a:r>
            <a:r>
              <a:rPr lang="zh-CN" altLang="zh-CN" dirty="0">
                <a:solidFill>
                  <a:srgbClr val="C00000"/>
                </a:solidFill>
              </a:rPr>
              <a:t>:</a:t>
            </a:r>
            <a:r>
              <a:rPr lang="zh-CN" altLang="zh-CN" dirty="0"/>
              <a:t>把考题的 4 个数喂给 cVAE,掷 40 把骰子 → 40 个设计。</a:t>
            </a:r>
          </a:p>
          <a:p>
            <a:pPr rtl="0">
              <a:buNone/>
            </a:pPr>
            <a:r>
              <a:rPr lang="zh-CN" altLang="zh-CN" b="1" dirty="0">
                <a:solidFill>
                  <a:srgbClr val="C00000"/>
                </a:solidFill>
              </a:rPr>
              <a:t>第 2 步 · 阅卷</a:t>
            </a:r>
            <a:r>
              <a:rPr lang="zh-CN" altLang="zh-CN" dirty="0">
                <a:solidFill>
                  <a:srgbClr val="C00000"/>
                </a:solidFill>
              </a:rPr>
              <a:t>:</a:t>
            </a:r>
            <a:r>
              <a:rPr lang="zh-CN" altLang="zh-CN" dirty="0"/>
              <a:t>40 个全部丢进 Exudyn 实摔,逐个对照要求: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zh-CN" altLang="zh-CN" dirty="0"/>
              <a:t>过载超 12.7g 或下蹲超 23mm → </a:t>
            </a:r>
            <a:r>
              <a:rPr lang="zh-CN" altLang="zh-CN" b="1" dirty="0"/>
              <a:t>不可行</a:t>
            </a:r>
            <a:r>
              <a:rPr lang="zh-CN" altLang="zh-CN" dirty="0"/>
              <a:t>,划掉;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zh-CN" altLang="zh-CN" dirty="0"/>
              <a:t>剩下的是可行答卷。</a:t>
            </a:r>
            <a:endParaRPr lang="en-US" altLang="zh-CN" dirty="0"/>
          </a:p>
          <a:p>
            <a:pPr lvl="0" rtl="0"/>
            <a:r>
              <a:rPr lang="zh-CN" altLang="en-US" b="1" dirty="0">
                <a:solidFill>
                  <a:srgbClr val="C00000"/>
                </a:solidFill>
              </a:rPr>
              <a:t>第 </a:t>
            </a:r>
            <a:r>
              <a:rPr lang="en-US" altLang="zh-CN" b="1" dirty="0">
                <a:solidFill>
                  <a:srgbClr val="C00000"/>
                </a:solidFill>
              </a:rPr>
              <a:t>3 </a:t>
            </a:r>
            <a:r>
              <a:rPr lang="zh-CN" altLang="en-US" b="1" dirty="0">
                <a:solidFill>
                  <a:srgbClr val="C00000"/>
                </a:solidFill>
              </a:rPr>
              <a:t>步 </a:t>
            </a:r>
            <a:r>
              <a:rPr lang="en-US" altLang="zh-CN" b="1" dirty="0">
                <a:solidFill>
                  <a:srgbClr val="C00000"/>
                </a:solidFill>
              </a:rPr>
              <a:t>· </a:t>
            </a:r>
            <a:r>
              <a:rPr lang="zh-CN" altLang="en-US" b="1" dirty="0">
                <a:solidFill>
                  <a:srgbClr val="C00000"/>
                </a:solidFill>
              </a:rPr>
              <a:t>一道题目的三个分数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0" rtl="0"/>
            <a:endParaRPr lang="en-US" altLang="zh-CN" b="1" dirty="0"/>
          </a:p>
          <a:p>
            <a:pPr lvl="0" rtl="0"/>
            <a:endParaRPr lang="en-US" altLang="zh-CN" b="1" dirty="0"/>
          </a:p>
          <a:p>
            <a:pPr lvl="0" rtl="0"/>
            <a:endParaRPr lang="en-US" altLang="zh-CN" b="1" dirty="0"/>
          </a:p>
          <a:p>
            <a:pPr lvl="0" rtl="0"/>
            <a:endParaRPr lang="en-US" altLang="zh-CN" b="1" dirty="0"/>
          </a:p>
          <a:p>
            <a:pPr lvl="0" rtl="0"/>
            <a:endParaRPr lang="en-US" altLang="zh-CN" b="1" dirty="0"/>
          </a:p>
          <a:p>
            <a:pPr lvl="0" rtl="0"/>
            <a:endParaRPr lang="en-US" altLang="zh-CN" b="1" dirty="0"/>
          </a:p>
          <a:p>
            <a:endParaRPr lang="en-US" altLang="zh-CN" b="1" dirty="0"/>
          </a:p>
          <a:p>
            <a:r>
              <a:rPr lang="zh-CN" altLang="zh-CN" b="1" dirty="0">
                <a:solidFill>
                  <a:srgbClr val="C00000"/>
                </a:solidFill>
              </a:rPr>
              <a:t>第 4 步 · 76 道题汇总</a:t>
            </a:r>
            <a:r>
              <a:rPr lang="zh-CN" altLang="zh-CN" dirty="0">
                <a:solidFill>
                  <a:srgbClr val="C00000"/>
                </a:solidFill>
              </a:rPr>
              <a:t>:</a:t>
            </a:r>
          </a:p>
          <a:p>
            <a:pPr lvl="0"/>
            <a:r>
              <a:rPr lang="zh-CN" altLang="zh-CN" b="1" dirty="0">
                <a:solidFill>
                  <a:srgbClr val="7F2D32"/>
                </a:solidFill>
              </a:rPr>
              <a:t>gap 中位数</a:t>
            </a:r>
            <a:r>
              <a:rPr lang="zh-CN" altLang="en-US" dirty="0"/>
              <a:t>作为</a:t>
            </a:r>
            <a:r>
              <a:rPr lang="zh-CN" altLang="zh-CN" dirty="0"/>
              <a:t>主成绩</a:t>
            </a:r>
            <a:r>
              <a:rPr lang="zh-CN" altLang="en-US" dirty="0"/>
              <a:t>，</a:t>
            </a:r>
            <a:r>
              <a:rPr lang="zh-CN" altLang="zh-CN" dirty="0"/>
              <a:t>取中位而非平均,防少数硬题把分拖爆</a:t>
            </a:r>
            <a:r>
              <a:rPr lang="zh-CN" altLang="en-US" dirty="0"/>
              <a:t>。</a:t>
            </a:r>
            <a:endParaRPr lang="zh-CN" altLang="zh-CN" dirty="0"/>
          </a:p>
          <a:p>
            <a:pPr lvl="0"/>
            <a:r>
              <a:rPr lang="zh-CN" altLang="zh-CN" b="1" dirty="0">
                <a:solidFill>
                  <a:srgbClr val="7F2D32"/>
                </a:solidFill>
              </a:rPr>
              <a:t>崩盘数 </a:t>
            </a:r>
            <a:r>
              <a:rPr lang="zh-CN" altLang="zh-CN" dirty="0"/>
              <a:t>= gap ≥ 100% 的题数(最坏情况计数);</a:t>
            </a:r>
          </a:p>
          <a:p>
            <a:pPr lvl="0"/>
            <a:r>
              <a:rPr lang="zh-CN" altLang="zh-CN" b="1" dirty="0">
                <a:solidFill>
                  <a:srgbClr val="7F2D32"/>
                </a:solidFill>
              </a:rPr>
              <a:t>可行率、覆盖率</a:t>
            </a:r>
            <a:r>
              <a:rPr lang="zh-CN" altLang="zh-CN" dirty="0"/>
              <a:t>取均值。</a:t>
            </a:r>
          </a:p>
          <a:p>
            <a:pPr lvl="0" rtl="0"/>
            <a:endParaRPr lang="en-US" altLang="zh-CN" b="1" dirty="0"/>
          </a:p>
          <a:p>
            <a:pPr lvl="0" rtl="0"/>
            <a:endParaRPr lang="zh-CN" altLang="zh-CN" b="1" dirty="0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FD9ABC7D-AD8C-ABED-B63F-37E2578A7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006986"/>
              </p:ext>
            </p:extLst>
          </p:nvPr>
        </p:nvGraphicFramePr>
        <p:xfrm>
          <a:off x="800987" y="3679783"/>
          <a:ext cx="10760149" cy="1645920"/>
        </p:xfrm>
        <a:graphic>
          <a:graphicData uri="http://schemas.openxmlformats.org/drawingml/2006/table">
            <a:tbl>
              <a:tblPr/>
              <a:tblGrid>
                <a:gridCol w="822251">
                  <a:extLst>
                    <a:ext uri="{9D8B030D-6E8A-4147-A177-3AD203B41FA5}">
                      <a16:colId xmlns:a16="http://schemas.microsoft.com/office/drawing/2014/main" val="3667635957"/>
                    </a:ext>
                  </a:extLst>
                </a:gridCol>
                <a:gridCol w="3537098">
                  <a:extLst>
                    <a:ext uri="{9D8B030D-6E8A-4147-A177-3AD203B41FA5}">
                      <a16:colId xmlns:a16="http://schemas.microsoft.com/office/drawing/2014/main" val="170369436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48358501"/>
                    </a:ext>
                  </a:extLst>
                </a:gridCol>
              </a:tblGrid>
              <a:tr h="229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 dirty="0"/>
                        <a:t>指标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 dirty="0"/>
                        <a:t>算法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/>
                        <a:t>解释</a:t>
                      </a:r>
                      <a:endParaRPr lang="zh-CN" sz="1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847710"/>
                  </a:ext>
                </a:extLst>
              </a:tr>
              <a:tr h="214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 dirty="0">
                          <a:solidFill>
                            <a:srgbClr val="7F2D32"/>
                          </a:solidFill>
                        </a:rPr>
                        <a:t>可行率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 dirty="0"/>
                        <a:t>可行数 ÷ 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/>
                        <a:t>40 份答卷里多少份"能用"。38/40 = 95%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013293"/>
                  </a:ext>
                </a:extLst>
              </a:tr>
              <a:tr h="515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 dirty="0">
                          <a:solidFill>
                            <a:srgbClr val="7F2D32"/>
                          </a:solidFill>
                        </a:rPr>
                        <a:t>gap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 dirty="0"/>
                        <a:t>(可行里最低峰值 − 满分线) ÷ 满分线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 dirty="0"/>
                        <a:t>最好那份比"已知能做到的最好"多疼百分之几。4.09g vs 3.99g → 2.5%。一个可行都没有 → 记 100%(交白卷罚分)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474707"/>
                  </a:ext>
                </a:extLst>
              </a:tr>
              <a:tr h="515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 dirty="0">
                          <a:solidFill>
                            <a:srgbClr val="7F2D32"/>
                          </a:solidFill>
                        </a:rPr>
                        <a:t>覆盖率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 dirty="0"/>
                        <a:t>可行答卷的行程跨度 ÷ 满分线那批的行程跨度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400" b="1" dirty="0"/>
                        <a:t>学生给的"菜单"铺得多开。参考能从 8 蹲到 21mm,学生的 40 个只覆盖 11~18mm → 覆盖 (18−11)/13 ≈ 54%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799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648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DCCA1-5829-B419-584D-8A02A5569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2FFD2B26-DC99-D50B-EBCB-7CD1B26F7FF1}"/>
              </a:ext>
            </a:extLst>
          </p:cNvPr>
          <p:cNvSpPr txBox="1"/>
          <p:nvPr/>
        </p:nvSpPr>
        <p:spPr>
          <a:xfrm>
            <a:off x="502920" y="274320"/>
            <a:ext cx="9509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400" b="1" dirty="0">
                <a:solidFill>
                  <a:srgbClr val="8E2A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回灌数据池与最终检验</a:t>
            </a:r>
            <a:endParaRPr sz="2400" b="1" dirty="0">
              <a:solidFill>
                <a:srgbClr val="8E2A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7F00EC-E49F-2048-D3CE-56054A767430}"/>
              </a:ext>
            </a:extLst>
          </p:cNvPr>
          <p:cNvSpPr txBox="1"/>
          <p:nvPr/>
        </p:nvSpPr>
        <p:spPr>
          <a:xfrm>
            <a:off x="502920" y="1132367"/>
            <a:ext cx="111641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回灌池子 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S7E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chemeClr val="accent5">
                  <a:lumMod val="75000"/>
                </a:schemeClr>
              </a:solidFill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rgbClr val="7F2D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S7a </a:t>
            </a:r>
            <a:r>
              <a:rPr lang="zh-CN" altLang="en-US" b="1" dirty="0">
                <a:solidFill>
                  <a:srgbClr val="7F2D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工厂初始池</a:t>
            </a:r>
            <a:r>
              <a:rPr lang="en-US" altLang="zh-CN" b="1" dirty="0">
                <a:solidFill>
                  <a:srgbClr val="7F2D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b="1" dirty="0"/>
              <a:t>60,000 </a:t>
            </a:r>
            <a:r>
              <a:rPr lang="zh-CN" altLang="en-US" b="1" dirty="0"/>
              <a:t>个设计</a:t>
            </a:r>
            <a:r>
              <a:rPr lang="en-US" altLang="zh-CN" b="1" dirty="0"/>
              <a:t>(</a:t>
            </a:r>
            <a:r>
              <a:rPr lang="zh-CN" altLang="en-US" b="1" dirty="0"/>
              <a:t>纯 </a:t>
            </a:r>
            <a:r>
              <a:rPr lang="en-US" altLang="zh-CN" b="1" dirty="0"/>
              <a:t>LHS </a:t>
            </a:r>
            <a:r>
              <a:rPr lang="zh-CN" altLang="en-US" b="1" dirty="0"/>
              <a:t>随机</a:t>
            </a:r>
            <a:r>
              <a:rPr lang="en-US" altLang="zh-CN" b="1" dirty="0"/>
              <a:t>)</a:t>
            </a:r>
          </a:p>
          <a:p>
            <a:r>
              <a:rPr lang="en-US" altLang="zh-CN" b="1" dirty="0"/>
              <a:t>                   </a:t>
            </a:r>
            <a:r>
              <a:rPr lang="en-US" altLang="zh-CN" b="1" dirty="0">
                <a:solidFill>
                  <a:srgbClr val="7F2D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  E5 </a:t>
            </a:r>
            <a:r>
              <a:rPr lang="zh-CN" altLang="en-US" b="1" dirty="0">
                <a:solidFill>
                  <a:srgbClr val="7F2D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每轮 </a:t>
            </a:r>
            <a:r>
              <a:rPr lang="en-US" altLang="zh-CN" b="1" dirty="0">
                <a:solidFill>
                  <a:srgbClr val="7F2D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+11,040</a:t>
            </a:r>
            <a:r>
              <a:rPr lang="zh-CN" altLang="en-US" b="1" dirty="0">
                <a:solidFill>
                  <a:srgbClr val="7F2D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，共计</a:t>
            </a:r>
            <a:r>
              <a:rPr lang="en-US" altLang="zh-CN" b="1" dirty="0">
                <a:solidFill>
                  <a:srgbClr val="7F2D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 </a:t>
            </a:r>
            <a:r>
              <a:rPr lang="zh-CN" altLang="en-US" b="1" dirty="0">
                <a:solidFill>
                  <a:srgbClr val="7F2D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轮回灌 </a:t>
            </a:r>
            <a:r>
              <a:rPr lang="en-US" altLang="zh-CN" b="1" dirty="0"/>
              <a:t>(</a:t>
            </a:r>
            <a:r>
              <a:rPr lang="zh-CN" altLang="en-US" b="1" dirty="0"/>
              <a:t>模型提议 </a:t>
            </a:r>
            <a:r>
              <a:rPr lang="en-US" altLang="zh-CN" b="1" dirty="0"/>
              <a:t>70% + </a:t>
            </a:r>
            <a:r>
              <a:rPr lang="zh-CN" altLang="en-US" b="1" dirty="0"/>
              <a:t>随机探索 </a:t>
            </a:r>
            <a:r>
              <a:rPr lang="en-US" altLang="zh-CN" b="1" dirty="0"/>
              <a:t>30%,</a:t>
            </a:r>
            <a:r>
              <a:rPr lang="zh-CN" altLang="en-US" b="1" dirty="0"/>
              <a:t>全部</a:t>
            </a:r>
            <a:r>
              <a:rPr lang="en-US" altLang="zh-CN" b="1" dirty="0" err="1"/>
              <a:t>Exudyn</a:t>
            </a:r>
            <a:r>
              <a:rPr lang="zh-CN" altLang="en-US" b="1" dirty="0"/>
              <a:t>验证</a:t>
            </a:r>
            <a:r>
              <a:rPr lang="en-US" altLang="zh-CN" b="1" dirty="0"/>
              <a:t>)</a:t>
            </a:r>
          </a:p>
          <a:p>
            <a:endParaRPr lang="en-US" altLang="zh-CN" b="1" dirty="0"/>
          </a:p>
          <a:p>
            <a:r>
              <a:rPr lang="zh-CN" altLang="en-US" b="1" dirty="0">
                <a:solidFill>
                  <a:srgbClr val="7F2D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终态池</a:t>
            </a:r>
            <a:r>
              <a:rPr lang="en-US" altLang="zh-CN" b="1" dirty="0">
                <a:solidFill>
                  <a:srgbClr val="7F2D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b="1" dirty="0"/>
              <a:t>192,480 </a:t>
            </a:r>
            <a:r>
              <a:rPr lang="zh-CN" altLang="en-US" b="1" dirty="0"/>
              <a:t>个设计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1E64E9-0F09-B766-D9D9-E865CCB4878D}"/>
              </a:ext>
            </a:extLst>
          </p:cNvPr>
          <p:cNvSpPr txBox="1"/>
          <p:nvPr/>
        </p:nvSpPr>
        <p:spPr>
          <a:xfrm>
            <a:off x="502920" y="3967717"/>
            <a:ext cx="111641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最终检验 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S7F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ea typeface="微软雅黑" panose="020B0503020204020204" pitchFamily="34" charset="-122"/>
            </a:endParaRPr>
          </a:p>
          <a:p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/>
              <a:t>不再产生新的设计，按照</a:t>
            </a:r>
            <a:r>
              <a:rPr lang="en-US" altLang="zh-CN" b="1" dirty="0"/>
              <a:t>S7D</a:t>
            </a:r>
            <a:r>
              <a:rPr lang="zh-CN" altLang="en-US" b="1" dirty="0"/>
              <a:t>的实验，抛出</a:t>
            </a:r>
            <a:r>
              <a:rPr lang="en-US" altLang="zh-CN" b="1" dirty="0"/>
              <a:t>8</a:t>
            </a:r>
            <a:r>
              <a:rPr lang="zh-CN" altLang="en-US" b="1" dirty="0"/>
              <a:t>个种子（之前是每轮</a:t>
            </a:r>
            <a:r>
              <a:rPr lang="en-US" altLang="zh-CN" b="1" dirty="0"/>
              <a:t>3</a:t>
            </a:r>
            <a:r>
              <a:rPr lang="zh-CN" altLang="en-US" b="1" dirty="0"/>
              <a:t>个，这个数字是考虑成本得出来的，后期可改），最终得出结论。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763491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9790" y="294198"/>
            <a:ext cx="9509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dirty="0">
                <a:solidFill>
                  <a:srgbClr val="8E2A34"/>
                </a:solidFill>
                <a:latin typeface="Microsoft YaHei"/>
              </a:rPr>
              <a:t>E5 </a:t>
            </a:r>
            <a:r>
              <a:rPr sz="2400" b="1" dirty="0" err="1">
                <a:solidFill>
                  <a:srgbClr val="8E2A34"/>
                </a:solidFill>
                <a:latin typeface="Microsoft YaHei"/>
              </a:rPr>
              <a:t>轨迹</a:t>
            </a:r>
            <a:endParaRPr sz="2400" b="1" dirty="0">
              <a:solidFill>
                <a:srgbClr val="8E2A34"/>
              </a:solidFill>
              <a:latin typeface="Microsoft YaHei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A946694-FF8B-08E0-091B-E39E4A913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103" y="1115204"/>
            <a:ext cx="9412820" cy="53034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9509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2400" b="1" dirty="0">
                <a:solidFill>
                  <a:srgbClr val="8E2A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en-US" altLang="zh-CN" sz="2400" b="1" dirty="0">
                <a:solidFill>
                  <a:srgbClr val="8E2A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dirty="0">
                <a:solidFill>
                  <a:srgbClr val="8E2A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进阶</a:t>
            </a:r>
            <a:r>
              <a:rPr lang="en-US" altLang="zh-CN" sz="2400" b="1" dirty="0">
                <a:solidFill>
                  <a:srgbClr val="8E2A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pipeline</a:t>
            </a:r>
            <a:endParaRPr sz="2400" b="1" dirty="0">
              <a:solidFill>
                <a:srgbClr val="8E2A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86903" y="2195181"/>
            <a:ext cx="53035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sz="1600" b="1" dirty="0">
                <a:solidFill>
                  <a:srgbClr val="3A6E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接下来的规划</a:t>
            </a:r>
            <a:endParaRPr sz="1600" b="1" dirty="0">
              <a:solidFill>
                <a:srgbClr val="3A6E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86903" y="2565021"/>
            <a:ext cx="5303520" cy="2280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dirty="0">
                <a:solidFill>
                  <a:srgbClr val="3A6EA5"/>
                </a:solidFill>
                <a:latin typeface="Microsoft YaHei"/>
                <a:ea typeface="Microsoft YaHei"/>
              </a:rPr>
              <a:t>① 40 </a:t>
            </a:r>
            <a:r>
              <a:rPr sz="1300" b="1" dirty="0" err="1">
                <a:solidFill>
                  <a:srgbClr val="3A6EA5"/>
                </a:solidFill>
                <a:latin typeface="Microsoft YaHei"/>
                <a:ea typeface="Microsoft YaHei"/>
              </a:rPr>
              <a:t>轮扩展自提升</a:t>
            </a:r>
            <a:r>
              <a:rPr sz="1300" b="1" dirty="0">
                <a:solidFill>
                  <a:srgbClr val="3A6EA5"/>
                </a:solidFill>
                <a:latin typeface="Microsoft YaHei"/>
                <a:ea typeface="Microsoft YaHei"/>
              </a:rPr>
              <a:t>(</a:t>
            </a:r>
            <a:r>
              <a:rPr sz="1300" b="1" dirty="0" err="1">
                <a:solidFill>
                  <a:srgbClr val="3A6EA5"/>
                </a:solidFill>
                <a:latin typeface="Microsoft YaHei"/>
                <a:ea typeface="Microsoft YaHei"/>
              </a:rPr>
              <a:t>已在跑</a:t>
            </a:r>
            <a:r>
              <a:rPr sz="1300" b="1" dirty="0">
                <a:solidFill>
                  <a:srgbClr val="3A6EA5"/>
                </a:solidFill>
                <a:latin typeface="Microsoft YaHei"/>
                <a:ea typeface="Microsoft YaHei"/>
              </a:rPr>
              <a:t>)</a:t>
            </a:r>
            <a:endParaRPr lang="en-US" sz="1300" b="1" dirty="0">
              <a:solidFill>
                <a:srgbClr val="3A6EA5"/>
              </a:solidFill>
              <a:latin typeface="Microsoft YaHei"/>
              <a:ea typeface="Microsoft YaHei"/>
            </a:endParaRPr>
          </a:p>
          <a:p>
            <a:pPr>
              <a:spcAft>
                <a:spcPts val="200"/>
              </a:spcAft>
            </a:pPr>
            <a:endParaRPr sz="1300" b="1" dirty="0">
              <a:solidFill>
                <a:srgbClr val="3A6EA5"/>
              </a:solidFill>
              <a:latin typeface="Microsoft YaHei"/>
              <a:ea typeface="Microsoft YaHei"/>
            </a:endParaRPr>
          </a:p>
          <a:p>
            <a:pPr>
              <a:spcAft>
                <a:spcPts val="200"/>
              </a:spcAft>
            </a:pPr>
            <a:r>
              <a:rPr sz="1300" b="1" dirty="0">
                <a:solidFill>
                  <a:srgbClr val="3A6EA5"/>
                </a:solidFill>
                <a:latin typeface="Microsoft YaHei"/>
                <a:ea typeface="Microsoft YaHei"/>
              </a:rPr>
              <a:t>② </a:t>
            </a:r>
            <a:r>
              <a:rPr sz="1300" b="1" dirty="0" err="1">
                <a:solidFill>
                  <a:srgbClr val="3A6EA5"/>
                </a:solidFill>
                <a:latin typeface="Microsoft YaHei"/>
                <a:ea typeface="Microsoft YaHei"/>
              </a:rPr>
              <a:t>触地姿态核验</a:t>
            </a:r>
            <a:endParaRPr sz="1300" b="1" dirty="0">
              <a:solidFill>
                <a:srgbClr val="3A6EA5"/>
              </a:solidFill>
              <a:latin typeface="Microsoft YaHei"/>
              <a:ea typeface="Microsoft YaHei"/>
            </a:endParaRPr>
          </a:p>
          <a:p>
            <a:pPr>
              <a:spcAft>
                <a:spcPts val="900"/>
              </a:spcAft>
            </a:pPr>
            <a:r>
              <a:rPr sz="1200" b="0" dirty="0">
                <a:solidFill>
                  <a:srgbClr val="333333"/>
                </a:solidFill>
                <a:latin typeface="Microsoft YaHei"/>
                <a:ea typeface="Microsoft YaHei"/>
              </a:rPr>
              <a:t>膝/</a:t>
            </a:r>
            <a:r>
              <a:rPr sz="1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踝角按组内触水帧实测</a:t>
            </a:r>
            <a:r>
              <a:rPr sz="1200" b="0" dirty="0">
                <a:solidFill>
                  <a:srgbClr val="333333"/>
                </a:solidFill>
                <a:latin typeface="Microsoft YaHei"/>
                <a:ea typeface="Microsoft YaHei"/>
              </a:rPr>
              <a:t>(</a:t>
            </a:r>
            <a:r>
              <a:rPr sz="1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中位</a:t>
            </a:r>
            <a:r>
              <a:rPr sz="1200" b="0" dirty="0">
                <a:solidFill>
                  <a:srgbClr val="333333"/>
                </a:solidFill>
                <a:latin typeface="Microsoft YaHei"/>
                <a:ea typeface="Microsoft YaHei"/>
              </a:rPr>
              <a:t> 133°/144°)做 2×2 </a:t>
            </a:r>
            <a:r>
              <a:rPr sz="1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敏感性重跑</a:t>
            </a:r>
            <a:endParaRPr lang="en-US" sz="1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>
              <a:spcAft>
                <a:spcPts val="900"/>
              </a:spcAft>
            </a:pPr>
            <a:r>
              <a:rPr sz="1300" b="1" dirty="0">
                <a:solidFill>
                  <a:srgbClr val="3A6EA5"/>
                </a:solidFill>
                <a:latin typeface="Microsoft YaHei"/>
                <a:ea typeface="Microsoft YaHei"/>
              </a:rPr>
              <a:t>③ E6 </a:t>
            </a:r>
            <a:r>
              <a:rPr sz="1300" b="1" dirty="0" err="1">
                <a:solidFill>
                  <a:srgbClr val="3A6EA5"/>
                </a:solidFill>
                <a:latin typeface="Microsoft YaHei"/>
                <a:ea typeface="Microsoft YaHei"/>
              </a:rPr>
              <a:t>多指标考试</a:t>
            </a:r>
            <a:endParaRPr sz="1300" b="1" dirty="0">
              <a:solidFill>
                <a:srgbClr val="3A6EA5"/>
              </a:solidFill>
              <a:latin typeface="Microsoft YaHei"/>
              <a:ea typeface="Microsoft YaHei"/>
            </a:endParaRPr>
          </a:p>
          <a:p>
            <a:pPr>
              <a:spcAft>
                <a:spcPts val="900"/>
              </a:spcAft>
            </a:pPr>
            <a:r>
              <a:rPr sz="1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缓冲效率</a:t>
            </a:r>
            <a:r>
              <a:rPr sz="1200" b="0" dirty="0">
                <a:solidFill>
                  <a:srgbClr val="333333"/>
                </a:solidFill>
                <a:latin typeface="Microsoft YaHei"/>
                <a:ea typeface="Microsoft YaHei"/>
              </a:rPr>
              <a:t> η </a:t>
            </a:r>
            <a:r>
              <a:rPr sz="1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纳入考题与条件向量,零新增训练仿真</a:t>
            </a:r>
            <a:r>
              <a:rPr lang="zh-CN" altLang="en-US" sz="1200" dirty="0">
                <a:solidFill>
                  <a:srgbClr val="333333"/>
                </a:solidFill>
                <a:latin typeface="Microsoft YaHei"/>
                <a:ea typeface="Microsoft YaHei"/>
              </a:rPr>
              <a:t>。回弹也要作为一个硬性指标参与设计考核。</a:t>
            </a:r>
            <a:endParaRPr sz="1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>
              <a:spcAft>
                <a:spcPts val="200"/>
              </a:spcAft>
            </a:pPr>
            <a:r>
              <a:rPr sz="1300" b="1" dirty="0">
                <a:solidFill>
                  <a:srgbClr val="3A6EA5"/>
                </a:solidFill>
                <a:latin typeface="Microsoft YaHei"/>
                <a:ea typeface="Microsoft YaHei"/>
              </a:rPr>
              <a:t>④ </a:t>
            </a:r>
            <a:r>
              <a:rPr sz="1300" b="1" dirty="0" err="1">
                <a:solidFill>
                  <a:srgbClr val="3A6EA5"/>
                </a:solidFill>
                <a:latin typeface="Microsoft YaHei"/>
                <a:ea typeface="Microsoft YaHei"/>
              </a:rPr>
              <a:t>衔接感知线</a:t>
            </a:r>
            <a:endParaRPr sz="1300" b="1" dirty="0">
              <a:solidFill>
                <a:srgbClr val="3A6EA5"/>
              </a:solidFill>
              <a:latin typeface="Microsoft YaHei"/>
              <a:ea typeface="Microsoft YaHei"/>
            </a:endParaRPr>
          </a:p>
          <a:p>
            <a:pPr>
              <a:spcAft>
                <a:spcPts val="900"/>
              </a:spcAft>
            </a:pPr>
            <a:r>
              <a:rPr sz="1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固定姿态</a:t>
            </a:r>
            <a:r>
              <a:rPr sz="12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1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姿态条件化,通往课题组前期工作指向的预判式着陆控制</a:t>
            </a:r>
            <a:endParaRPr sz="12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/>
      <a:lstStyle>
        <a:defPPr>
          <a:defRPr lang="zh-CN" altLang="en-US"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3698</Words>
  <Application>Microsoft Office PowerPoint</Application>
  <PresentationFormat>宽屏</PresentationFormat>
  <Paragraphs>178</Paragraphs>
  <Slides>14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等线</vt:lpstr>
      <vt:lpstr>等线 Light</vt:lpstr>
      <vt:lpstr>微软雅黑</vt:lpstr>
      <vt:lpstr>微软雅黑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袁 溢 - Yi Yuan</dc:creator>
  <cp:lastModifiedBy>Zihan WANG</cp:lastModifiedBy>
  <cp:revision>91</cp:revision>
  <dcterms:created xsi:type="dcterms:W3CDTF">2025-11-07T10:50:00Z</dcterms:created>
  <dcterms:modified xsi:type="dcterms:W3CDTF">2026-08-14T04:01:04Z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A4D456EBF641497F9F0B2A30E5BE36A8_13</vt:lpwstr>
  </property>
  <property fmtid="{D5CDD505-2E9C-101B-9397-08002B2CF9AE}" pid="3" name="KSOProductBuildVer">
    <vt:lpwstr>2052-12.1.0.25865</vt:lpwstr>
  </property>
</Properties>
</file>