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15" r:id="rId2"/>
    <p:sldId id="316" r:id="rId3"/>
    <p:sldId id="317" r:id="rId4"/>
    <p:sldId id="318" r:id="rId5"/>
    <p:sldId id="319" r:id="rId6"/>
    <p:sldId id="320" r:id="rId7"/>
    <p:sldId id="328" r:id="rId8"/>
    <p:sldId id="329" r:id="rId9"/>
    <p:sldId id="321" r:id="rId10"/>
    <p:sldId id="322" r:id="rId11"/>
    <p:sldId id="323" r:id="rId12"/>
    <p:sldId id="32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0" clrIdx="0"/>
  <p:cmAuthor id="2" name="黄 绮梦" initials="黄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3436"/>
    <a:srgbClr val="FCECE1"/>
    <a:srgbClr val="BDD8EC"/>
    <a:srgbClr val="FED897"/>
    <a:srgbClr val="FFEFD9"/>
    <a:srgbClr val="FFE8C4"/>
    <a:srgbClr val="FDB837"/>
    <a:srgbClr val="7F2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202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000" cy="6915059"/>
          </a:xfrm>
          <a:prstGeom prst="rect">
            <a:avLst/>
          </a:prstGeom>
        </p:spPr>
      </p:pic>
      <p:pic>
        <p:nvPicPr>
          <p:cNvPr id="10" name="图片 9" descr="文本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58" y="110373"/>
            <a:ext cx="3749048" cy="67056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 descr="图片包含 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63" y="196850"/>
            <a:ext cx="2632075" cy="4699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" y="6224270"/>
            <a:ext cx="3061970" cy="548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9525" y="3937000"/>
            <a:ext cx="12230735" cy="2960370"/>
          </a:xfrm>
          <a:prstGeom prst="rect">
            <a:avLst/>
          </a:prstGeom>
          <a:solidFill>
            <a:srgbClr val="7F2D32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pic>
        <p:nvPicPr>
          <p:cNvPr id="11" name="图片 10" descr="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" y="6224270"/>
            <a:ext cx="3061970" cy="5480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图片包含 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63" y="196850"/>
            <a:ext cx="2632075" cy="4699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37D93-D8B7-4382-889F-631268653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12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11.png"/><Relationship Id="rId2" Type="http://schemas.openxmlformats.org/officeDocument/2006/relationships/video" Target="../media/media1.mp4"/><Relationship Id="rId16" Type="http://schemas.openxmlformats.org/officeDocument/2006/relationships/image" Target="../media/image15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slideLayout" Target="../slideLayouts/slideLayout6.xml"/><Relationship Id="rId5" Type="http://schemas.microsoft.com/office/2007/relationships/media" Target="../media/media3.mp4"/><Relationship Id="rId15" Type="http://schemas.openxmlformats.org/officeDocument/2006/relationships/image" Target="../media/image14.png"/><Relationship Id="rId10" Type="http://schemas.openxmlformats.org/officeDocument/2006/relationships/video" Target="../media/media5.mp4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914569"/>
            <a:ext cx="10515600" cy="615553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</a:rPr>
              <a:t>水鸟着陆</a:t>
            </a:r>
            <a:r>
              <a:rPr lang="zh-CN" altLang="en-US" sz="4000" b="1" dirty="0">
                <a:solidFill>
                  <a:srgbClr val="FFFFFF"/>
                </a:solidFill>
                <a:latin typeface="微软雅黑"/>
                <a:ea typeface="微软雅黑"/>
              </a:rPr>
              <a:t>在</a:t>
            </a:r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</a:rPr>
              <a:t>时间维度</a:t>
            </a:r>
            <a:r>
              <a:rPr lang="zh-CN" altLang="en-US" sz="4000" b="1" dirty="0">
                <a:solidFill>
                  <a:srgbClr val="FFFFFF"/>
                </a:solidFill>
                <a:latin typeface="微软雅黑"/>
                <a:ea typeface="微软雅黑"/>
              </a:rPr>
              <a:t>上的表现</a:t>
            </a:r>
            <a:endParaRPr sz="40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8448" y="3933338"/>
            <a:ext cx="10917868" cy="1123384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dirty="0" err="1">
                <a:solidFill>
                  <a:srgbClr val="F0E2E3"/>
                </a:solidFill>
                <a:latin typeface="微软雅黑"/>
                <a:ea typeface="微软雅黑"/>
              </a:rPr>
              <a:t>本周汇报</a:t>
            </a:r>
            <a:r>
              <a:rPr lang="en-US" sz="2400" b="1" dirty="0">
                <a:solidFill>
                  <a:srgbClr val="F0E2E3"/>
                </a:solidFill>
                <a:latin typeface="微软雅黑"/>
                <a:ea typeface="微软雅黑"/>
              </a:rPr>
              <a:t> </a:t>
            </a:r>
            <a:r>
              <a:rPr lang="zh-CN" altLang="en-US" sz="2400" b="1" dirty="0">
                <a:solidFill>
                  <a:srgbClr val="F0E2E3"/>
                </a:solidFill>
                <a:latin typeface="微软雅黑"/>
                <a:ea typeface="微软雅黑"/>
              </a:rPr>
              <a:t>（ 第一周）</a:t>
            </a:r>
            <a:r>
              <a:rPr sz="2400" b="1" dirty="0">
                <a:solidFill>
                  <a:srgbClr val="F0E2E3"/>
                </a:solidFill>
                <a:latin typeface="微软雅黑"/>
                <a:ea typeface="微软雅黑"/>
              </a:rPr>
              <a:t> · </a:t>
            </a:r>
            <a:r>
              <a:rPr sz="2400" b="1" dirty="0" err="1">
                <a:solidFill>
                  <a:srgbClr val="F0E2E3"/>
                </a:solidFill>
                <a:latin typeface="微软雅黑"/>
                <a:ea typeface="微软雅黑"/>
              </a:rPr>
              <a:t>生物动态耦合</a:t>
            </a:r>
            <a:endParaRPr lang="en-US" sz="2400" b="1" dirty="0">
              <a:solidFill>
                <a:srgbClr val="F0E2E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en-US" sz="2400" b="1" dirty="0">
              <a:solidFill>
                <a:srgbClr val="F0E2E3"/>
              </a:solidFill>
              <a:latin typeface="微软雅黑"/>
              <a:ea typeface="微软雅黑"/>
            </a:endParaRP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lang="en-US" sz="2000" b="0" dirty="0">
                <a:solidFill>
                  <a:srgbClr val="DFC8CA"/>
                </a:solidFill>
                <a:latin typeface="微软雅黑"/>
                <a:ea typeface="微软雅黑"/>
              </a:rPr>
              <a:t> </a:t>
            </a:r>
            <a:r>
              <a:rPr sz="2000" b="0" dirty="0">
                <a:solidFill>
                  <a:srgbClr val="DFC8CA"/>
                </a:solidFill>
                <a:latin typeface="微软雅黑"/>
                <a:ea typeface="微软雅黑"/>
              </a:rPr>
              <a:t>王子晗   ·   </a:t>
            </a:r>
            <a:r>
              <a:rPr sz="2000" b="0" dirty="0" err="1">
                <a:solidFill>
                  <a:srgbClr val="DFC8CA"/>
                </a:solidFill>
                <a:latin typeface="微软雅黑"/>
                <a:ea typeface="微软雅黑"/>
              </a:rPr>
              <a:t>导师：赵一帆</a:t>
            </a:r>
            <a:r>
              <a:rPr sz="2000" b="0" dirty="0">
                <a:solidFill>
                  <a:srgbClr val="DFC8CA"/>
                </a:solidFill>
                <a:latin typeface="微软雅黑"/>
                <a:ea typeface="微软雅黑"/>
              </a:rPr>
              <a:t>   ·   2026-08</a:t>
            </a:r>
            <a:r>
              <a:rPr lang="en-US" altLang="zh-CN" sz="2000" b="0" dirty="0">
                <a:solidFill>
                  <a:srgbClr val="DFC8CA"/>
                </a:solidFill>
                <a:latin typeface="微软雅黑"/>
                <a:ea typeface="微软雅黑"/>
              </a:rPr>
              <a:t>-08</a:t>
            </a:r>
            <a:endParaRPr sz="2000" b="0" dirty="0">
              <a:solidFill>
                <a:srgbClr val="DFC8C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背景：飞机的「腿」很重，鸟的腿很聪明</a:t>
            </a:r>
            <a:endParaRPr sz="3000" b="1" dirty="0">
              <a:solidFill>
                <a:srgbClr val="7F2D32"/>
              </a:solidFill>
              <a:latin typeface="微软雅黑"/>
              <a:ea typeface="微软雅黑"/>
            </a:endParaRPr>
          </a:p>
        </p:txBody>
      </p:sp>
      <p:sp>
        <p:nvSpPr>
          <p:cNvPr id="3" name="Oval 2"/>
          <p:cNvSpPr/>
          <p:nvPr/>
        </p:nvSpPr>
        <p:spPr>
          <a:xfrm>
            <a:off x="685800" y="1746504"/>
            <a:ext cx="457200" cy="457200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966960" cy="1143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起落架</a:t>
            </a:r>
            <a:r>
              <a:rPr sz="1800" b="1" dirty="0">
                <a:solidFill>
                  <a:srgbClr val="7F2D32"/>
                </a:solidFill>
                <a:latin typeface="微软雅黑"/>
                <a:ea typeface="微软雅黑"/>
              </a:rPr>
              <a:t> = </a:t>
            </a: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飞机的「腿</a:t>
            </a:r>
            <a:r>
              <a:rPr sz="1800" b="1" dirty="0">
                <a:solidFill>
                  <a:srgbClr val="7F2D32"/>
                </a:solidFill>
                <a:latin typeface="微软雅黑"/>
                <a:ea typeface="微软雅黑"/>
              </a:rPr>
              <a:t>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242428"/>
                </a:solidFill>
                <a:latin typeface="微软雅黑"/>
                <a:ea typeface="微软雅黑"/>
              </a:rPr>
              <a:t>飞机最重、最少被优化的子系统之一。落地那一下的巨大冲击，全靠它来卸掉</a:t>
            </a:r>
            <a:r>
              <a:rPr sz="15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3163824"/>
            <a:ext cx="457200" cy="457200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966960" cy="533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水鸟落水</a:t>
            </a:r>
            <a:r>
              <a:rPr sz="1800" b="1" dirty="0">
                <a:solidFill>
                  <a:srgbClr val="7F2D32"/>
                </a:solidFill>
                <a:latin typeface="微软雅黑"/>
                <a:ea typeface="微软雅黑"/>
              </a:rPr>
              <a:t> = </a:t>
            </a: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天然缓冲</a:t>
            </a:r>
            <a:r>
              <a:rPr lang="zh-CN" altLang="en-US" sz="1800" b="1" dirty="0">
                <a:solidFill>
                  <a:srgbClr val="7F2D32"/>
                </a:solidFill>
                <a:latin typeface="微软雅黑"/>
                <a:ea typeface="微软雅黑"/>
              </a:rPr>
              <a:t>范本</a:t>
            </a:r>
            <a:endParaRPr sz="18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242428"/>
                </a:solidFill>
                <a:latin typeface="微软雅黑"/>
                <a:ea typeface="微软雅黑"/>
              </a:rPr>
              <a:t>腿又轻又抗摔</a:t>
            </a:r>
            <a:r>
              <a:rPr sz="1500" b="0" dirty="0">
                <a:solidFill>
                  <a:srgbClr val="242428"/>
                </a:solidFill>
                <a:latin typeface="微软雅黑"/>
                <a:ea typeface="微软雅黑"/>
              </a:rPr>
              <a:t>——</a:t>
            </a:r>
            <a:r>
              <a:rPr sz="1500" b="0" dirty="0" err="1">
                <a:solidFill>
                  <a:srgbClr val="242428"/>
                </a:solidFill>
                <a:latin typeface="微软雅黑"/>
                <a:ea typeface="微软雅黑"/>
              </a:rPr>
              <a:t>多关节协调，把冲击一层层化解</a:t>
            </a:r>
            <a:r>
              <a:rPr sz="15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4581144"/>
            <a:ext cx="457200" cy="457200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966960" cy="53347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课题组前期工作的思路</a:t>
            </a:r>
            <a:endParaRPr sz="18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242428"/>
                </a:solidFill>
                <a:latin typeface="微软雅黑"/>
                <a:ea typeface="微软雅黑"/>
              </a:rPr>
              <a:t>照着水鸟腿的结构，设计更轻、更抗冲击的下一代飞机起落架</a:t>
            </a:r>
            <a:r>
              <a:rPr sz="15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课题组前期工作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(AESCTE)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12163" y="1609344"/>
            <a:ext cx="438912" cy="438912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12848"/>
            <a:ext cx="1819656" cy="9601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42428"/>
                </a:solidFill>
                <a:latin typeface="微软雅黑"/>
                <a:ea typeface="微软雅黑"/>
              </a:rPr>
              <a:t>拍水鸟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42428"/>
                </a:solidFill>
                <a:latin typeface="微软雅黑"/>
                <a:ea typeface="微软雅黑"/>
              </a:rPr>
              <a:t>落水视频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31720"/>
            <a:ext cx="30860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3210" y="182880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86733" y="1609344"/>
            <a:ext cx="438912" cy="438912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6362" y="2212848"/>
            <a:ext cx="1819656" cy="9601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dirty="0">
                <a:solidFill>
                  <a:srgbClr val="242428"/>
                </a:solidFill>
                <a:latin typeface="微软雅黑"/>
                <a:ea typeface="微软雅黑"/>
              </a:rPr>
              <a:t>AI(</a:t>
            </a:r>
            <a:r>
              <a:rPr sz="1300" b="1" dirty="0" err="1">
                <a:solidFill>
                  <a:srgbClr val="242428"/>
                </a:solidFill>
                <a:latin typeface="微软雅黑"/>
                <a:ea typeface="微软雅黑"/>
              </a:rPr>
              <a:t>DeepLabCut</a:t>
            </a:r>
            <a:r>
              <a:rPr sz="1300" b="1" dirty="0">
                <a:solidFill>
                  <a:srgbClr val="242428"/>
                </a:solidFill>
                <a:latin typeface="微软雅黑"/>
                <a:ea typeface="微软雅黑"/>
              </a:rPr>
              <a:t>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标出腿关节</a:t>
            </a:r>
            <a:endParaRPr sz="1300" b="0" dirty="0">
              <a:solidFill>
                <a:srgbClr val="242428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9170" y="2331720"/>
            <a:ext cx="30860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7779" y="182880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61303" y="1609344"/>
            <a:ext cx="438912" cy="438912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0931" y="2212848"/>
            <a:ext cx="1819656" cy="9601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dirty="0" err="1">
                <a:solidFill>
                  <a:srgbClr val="242428"/>
                </a:solidFill>
                <a:latin typeface="微软雅黑"/>
                <a:ea typeface="微软雅黑"/>
              </a:rPr>
              <a:t>算各段长度比例</a:t>
            </a:r>
            <a:endParaRPr sz="1300" b="1" dirty="0">
              <a:solidFill>
                <a:srgbClr val="242428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242428"/>
                </a:solidFill>
                <a:latin typeface="微软雅黑"/>
                <a:ea typeface="微软雅黑"/>
              </a:rPr>
              <a:t>+ </a:t>
            </a: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落地姿势</a:t>
            </a:r>
            <a:endParaRPr sz="1300" b="0" dirty="0">
              <a:solidFill>
                <a:srgbClr val="24242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63740" y="2331720"/>
            <a:ext cx="30860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2350" y="182880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5873" y="1609344"/>
            <a:ext cx="438912" cy="438912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5502" y="2212848"/>
            <a:ext cx="1819656" cy="9601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42428"/>
                </a:solidFill>
                <a:latin typeface="微软雅黑"/>
                <a:ea typeface="微软雅黑"/>
              </a:rPr>
              <a:t>照比例搭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42428"/>
                </a:solidFill>
                <a:latin typeface="微软雅黑"/>
                <a:ea typeface="微软雅黑"/>
              </a:rPr>
              <a:t>三段连杆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8310" y="2331720"/>
            <a:ext cx="30860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82880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10444" y="1609344"/>
            <a:ext cx="438912" cy="438912"/>
          </a:xfrm>
          <a:prstGeom prst="ellipse">
            <a:avLst/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212848"/>
            <a:ext cx="1819656" cy="9601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dirty="0" err="1">
                <a:solidFill>
                  <a:srgbClr val="242428"/>
                </a:solidFill>
                <a:latin typeface="微软雅黑"/>
                <a:ea typeface="微软雅黑"/>
              </a:rPr>
              <a:t>仿真「摔一下</a:t>
            </a:r>
            <a:r>
              <a:rPr sz="1300" b="1" dirty="0">
                <a:solidFill>
                  <a:srgbClr val="242428"/>
                </a:solidFill>
                <a:latin typeface="微软雅黑"/>
                <a:ea typeface="微软雅黑"/>
              </a:rPr>
              <a:t>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挑最缓的</a:t>
            </a:r>
            <a:endParaRPr sz="1300" b="0" dirty="0">
              <a:solidFill>
                <a:srgbClr val="242428"/>
              </a:solidFill>
              <a:latin typeface="微软雅黑"/>
              <a:ea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59181" y="3852410"/>
            <a:ext cx="6583680" cy="960120"/>
          </a:xfrm>
          <a:prstGeom prst="roundRect">
            <a:avLst>
              <a:gd name="adj" fmla="val 6000"/>
            </a:avLst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06189" y="3979289"/>
            <a:ext cx="6217920" cy="7315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</a:rPr>
              <a:t>结果：峰值加速度</a:t>
            </a:r>
            <a:r>
              <a:rPr sz="1700" b="1" dirty="0">
                <a:solidFill>
                  <a:srgbClr val="FFFFFF"/>
                </a:solidFill>
                <a:latin typeface="微软雅黑"/>
                <a:ea typeface="微软雅黑"/>
              </a:rPr>
              <a:t> ↓ 8.9% </a:t>
            </a:r>
            <a:r>
              <a:rPr sz="1700" b="0" dirty="0">
                <a:solidFill>
                  <a:srgbClr val="EBD8DA"/>
                </a:solidFill>
                <a:latin typeface="微软雅黑"/>
                <a:ea typeface="微软雅黑"/>
              </a:rPr>
              <a:t>(</a:t>
            </a:r>
            <a:r>
              <a:rPr sz="1700" b="0" dirty="0" err="1">
                <a:solidFill>
                  <a:srgbClr val="EBD8DA"/>
                </a:solidFill>
                <a:latin typeface="微软雅黑"/>
                <a:ea typeface="微软雅黑"/>
              </a:rPr>
              <a:t>对比传统扭力臂机构</a:t>
            </a:r>
            <a:r>
              <a:rPr sz="1700" b="0" dirty="0">
                <a:solidFill>
                  <a:srgbClr val="EBD8DA"/>
                </a:solidFill>
                <a:latin typeface="微软雅黑"/>
                <a:ea typeface="微软雅黑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880" y="5418820"/>
            <a:ext cx="11064240" cy="36933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dirty="0" err="1">
                <a:solidFill>
                  <a:srgbClr val="7F2D32"/>
                </a:solidFill>
                <a:latin typeface="微软雅黑"/>
                <a:ea typeface="微软雅黑"/>
              </a:rPr>
              <a:t>是一条完整、扎实的流水线：从视频，一路做到用</a:t>
            </a:r>
            <a:r>
              <a:rPr sz="2400" b="1" dirty="0">
                <a:solidFill>
                  <a:srgbClr val="7F2D32"/>
                </a:solidFill>
                <a:latin typeface="微软雅黑"/>
                <a:ea typeface="微软雅黑"/>
              </a:rPr>
              <a:t> AI </a:t>
            </a:r>
            <a:r>
              <a:rPr sz="2400" b="1" dirty="0" err="1">
                <a:solidFill>
                  <a:srgbClr val="7F2D32"/>
                </a:solidFill>
                <a:latin typeface="微软雅黑"/>
                <a:ea typeface="微软雅黑"/>
              </a:rPr>
              <a:t>优化出起落架形状</a:t>
            </a:r>
            <a:r>
              <a:rPr sz="2400" b="1" dirty="0">
                <a:solidFill>
                  <a:srgbClr val="7F2D32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在前期工作基础上：我们想补上「时间维度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257800" cy="2926080"/>
          </a:xfrm>
          <a:prstGeom prst="roundRect">
            <a:avLst>
              <a:gd name="adj" fmla="val 6000"/>
            </a:avLst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2076" y="2657064"/>
            <a:ext cx="4983480" cy="86946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dirty="0" err="1">
                <a:solidFill>
                  <a:srgbClr val="6B6B72"/>
                </a:solidFill>
                <a:latin typeface="微软雅黑"/>
                <a:ea typeface="微软雅黑"/>
              </a:rPr>
              <a:t>前期工作</a:t>
            </a:r>
            <a:r>
              <a:rPr sz="1700" b="1" dirty="0">
                <a:solidFill>
                  <a:srgbClr val="6B6B72"/>
                </a:solidFill>
                <a:latin typeface="微软雅黑"/>
                <a:ea typeface="微软雅黑"/>
              </a:rPr>
              <a:t>(</a:t>
            </a:r>
            <a:r>
              <a:rPr sz="1700" b="1" dirty="0" err="1">
                <a:solidFill>
                  <a:srgbClr val="6B6B72"/>
                </a:solidFill>
                <a:latin typeface="微软雅黑"/>
                <a:ea typeface="微软雅黑"/>
              </a:rPr>
              <a:t>第一步</a:t>
            </a:r>
            <a:r>
              <a:rPr sz="1700" b="1" dirty="0">
                <a:solidFill>
                  <a:srgbClr val="6B6B72"/>
                </a:solidFill>
                <a:latin typeface="微软雅黑"/>
                <a:ea typeface="微软雅黑"/>
              </a:rPr>
              <a:t>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dirty="0" err="1">
                <a:solidFill>
                  <a:srgbClr val="242428"/>
                </a:solidFill>
                <a:latin typeface="微软雅黑"/>
                <a:ea typeface="微软雅黑"/>
              </a:rPr>
              <a:t>用运动学的平均姿势</a:t>
            </a:r>
            <a:r>
              <a:rPr sz="1550" b="1" dirty="0">
                <a:solidFill>
                  <a:srgbClr val="242428"/>
                </a:solidFill>
                <a:latin typeface="微软雅黑"/>
                <a:ea typeface="微软雅黑"/>
              </a:rPr>
              <a:t> + </a:t>
            </a:r>
            <a:r>
              <a:rPr sz="1550" b="1" dirty="0" err="1">
                <a:solidFill>
                  <a:srgbClr val="242428"/>
                </a:solidFill>
                <a:latin typeface="微软雅黑"/>
                <a:ea typeface="微软雅黑"/>
              </a:rPr>
              <a:t>骨长比来定连杆几何</a:t>
            </a:r>
            <a:r>
              <a:rPr sz="1550" b="1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242428"/>
                </a:solidFill>
                <a:latin typeface="微软雅黑"/>
                <a:ea typeface="微软雅黑"/>
              </a:rPr>
              <a:t>这是</a:t>
            </a:r>
            <a:r>
              <a:rPr lang="zh-CN" altLang="en-US" sz="1400" b="0" dirty="0">
                <a:solidFill>
                  <a:srgbClr val="242428"/>
                </a:solidFill>
                <a:latin typeface="微软雅黑"/>
                <a:ea typeface="微软雅黑"/>
              </a:rPr>
              <a:t>一个成熟</a:t>
            </a:r>
            <a:r>
              <a:rPr sz="1400" b="0" dirty="0" err="1">
                <a:solidFill>
                  <a:srgbClr val="242428"/>
                </a:solidFill>
                <a:latin typeface="微软雅黑"/>
                <a:ea typeface="微软雅黑"/>
              </a:rPr>
              <a:t>的起点，跑通了完整的设计流程，打下了基础</a:t>
            </a:r>
            <a:r>
              <a:rPr sz="14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73736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37714" y="2284764"/>
            <a:ext cx="4800600" cy="1831271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dirty="0" err="1">
                <a:solidFill>
                  <a:srgbClr val="7F2D32"/>
                </a:solidFill>
                <a:latin typeface="微软雅黑"/>
                <a:ea typeface="微软雅黑"/>
              </a:rPr>
              <a:t>我们想接着做的</a:t>
            </a:r>
            <a:endParaRPr sz="17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altLang="zh-CN" sz="1550" b="1" dirty="0">
                <a:solidFill>
                  <a:srgbClr val="7F2D32"/>
                </a:solidFill>
                <a:latin typeface="微软雅黑"/>
                <a:ea typeface="微软雅黑"/>
              </a:rPr>
              <a:t>1. </a:t>
            </a:r>
            <a:r>
              <a:rPr sz="1550" b="1" dirty="0" err="1">
                <a:solidFill>
                  <a:srgbClr val="7F2D32"/>
                </a:solidFill>
                <a:latin typeface="微软雅黑"/>
                <a:ea typeface="微软雅黑"/>
              </a:rPr>
              <a:t>在此基础上，把「弯腿的过程」也纳入进来</a:t>
            </a:r>
            <a:r>
              <a:rPr sz="1550" b="1" dirty="0">
                <a:solidFill>
                  <a:srgbClr val="7F2D32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242428"/>
                </a:solidFill>
                <a:latin typeface="微软雅黑"/>
                <a:ea typeface="微软雅黑"/>
              </a:rPr>
              <a:t>让腿在缓冲时随时间如何协调运动的信息，也参与到设计里来</a:t>
            </a:r>
            <a:r>
              <a:rPr sz="14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  <a:endParaRPr lang="en-US" sz="1400" b="0" dirty="0">
              <a:solidFill>
                <a:srgbClr val="24242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242428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lang="en-US" altLang="zh-CN" sz="1550" b="1" dirty="0">
                <a:solidFill>
                  <a:srgbClr val="7F2D32"/>
                </a:solidFill>
                <a:latin typeface="微软雅黑"/>
                <a:ea typeface="微软雅黑"/>
              </a:rPr>
              <a:t>2. </a:t>
            </a:r>
            <a:r>
              <a:rPr lang="zh-CN" altLang="en-US" sz="1550" b="1" dirty="0">
                <a:solidFill>
                  <a:srgbClr val="7F2D32"/>
                </a:solidFill>
                <a:latin typeface="微软雅黑"/>
                <a:ea typeface="微软雅黑"/>
              </a:rPr>
              <a:t>使用更强的代理模型来生成杠杆结构。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 dirty="0">
              <a:solidFill>
                <a:srgbClr val="24242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F2D32"/>
                </a:solidFill>
                <a:latin typeface="微软雅黑"/>
                <a:ea typeface="微软雅黑"/>
              </a:rPr>
              <a:t>我们的流程：从视频到「可见的运动学」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219456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网络视频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103120"/>
            <a:ext cx="51815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4240" y="17830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5680" y="1783080"/>
            <a:ext cx="219456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SAM2 分割跟踪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680" y="2103120"/>
            <a:ext cx="51815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840" y="17830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1280" y="1783080"/>
            <a:ext cx="219456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DeepLabCut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关键点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103120"/>
            <a:ext cx="518159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F2D3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78308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783080"/>
            <a:ext cx="219456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可见部分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三维重建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880" y="3200400"/>
            <a:ext cx="11064240" cy="3157870"/>
          </a:xfrm>
          <a:prstGeom prst="roundRect">
            <a:avLst>
              <a:gd name="adj" fmla="val 6000"/>
            </a:avLst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1" y="3474720"/>
            <a:ext cx="7438892" cy="174150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dirty="0" err="1">
                <a:solidFill>
                  <a:srgbClr val="7F2D32"/>
                </a:solidFill>
                <a:latin typeface="微软雅黑"/>
                <a:ea typeface="微软雅黑"/>
              </a:rPr>
              <a:t>关键设计：观测性分层</a:t>
            </a:r>
            <a:endParaRPr sz="18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dirty="0" err="1">
                <a:solidFill>
                  <a:srgbClr val="242428"/>
                </a:solidFill>
                <a:latin typeface="微软雅黑"/>
                <a:ea typeface="微软雅黑"/>
              </a:rPr>
              <a:t>远端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(踝 / 跖 / 趾)——</a:t>
            </a:r>
            <a:r>
              <a:rPr sz="1550" b="0" dirty="0" err="1">
                <a:solidFill>
                  <a:srgbClr val="242428"/>
                </a:solidFill>
                <a:latin typeface="微软雅黑"/>
                <a:ea typeface="微软雅黑"/>
              </a:rPr>
              <a:t>体外看得见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 → </a:t>
            </a:r>
            <a:r>
              <a:rPr sz="1550" b="1" dirty="0" err="1">
                <a:solidFill>
                  <a:srgbClr val="7F2D32"/>
                </a:solidFill>
                <a:latin typeface="微软雅黑"/>
                <a:ea typeface="微软雅黑"/>
              </a:rPr>
              <a:t>直接测量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dirty="0" err="1">
                <a:solidFill>
                  <a:srgbClr val="242428"/>
                </a:solidFill>
                <a:latin typeface="微软雅黑"/>
                <a:ea typeface="微软雅黑"/>
              </a:rPr>
              <a:t>近端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(膝 / 髋)——</a:t>
            </a:r>
            <a:r>
              <a:rPr sz="1550" b="0" dirty="0" err="1">
                <a:solidFill>
                  <a:srgbClr val="242428"/>
                </a:solidFill>
                <a:latin typeface="微软雅黑"/>
                <a:ea typeface="微软雅黑"/>
              </a:rPr>
              <a:t>藏在体内、体外看不清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 → </a:t>
            </a:r>
            <a:r>
              <a:rPr sz="1550" b="1" dirty="0" err="1">
                <a:solidFill>
                  <a:srgbClr val="7F2D32"/>
                </a:solidFill>
                <a:latin typeface="微软雅黑"/>
                <a:ea typeface="微软雅黑"/>
              </a:rPr>
              <a:t>只用文献先验</a:t>
            </a:r>
            <a:r>
              <a:rPr lang="zh-CN" altLang="en-US" sz="1550" b="1" dirty="0">
                <a:solidFill>
                  <a:srgbClr val="7F2D32"/>
                </a:solidFill>
                <a:latin typeface="微软雅黑"/>
                <a:ea typeface="微软雅黑"/>
              </a:rPr>
              <a:t>，舍弃脑补环节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(</a:t>
            </a:r>
            <a:r>
              <a:rPr sz="1550" b="0" dirty="0" err="1">
                <a:solidFill>
                  <a:srgbClr val="242428"/>
                </a:solidFill>
                <a:latin typeface="微软雅黑"/>
                <a:ea typeface="微软雅黑"/>
              </a:rPr>
              <a:t>金标准要</a:t>
            </a:r>
            <a:r>
              <a:rPr sz="1550" b="0" dirty="0">
                <a:solidFill>
                  <a:srgbClr val="242428"/>
                </a:solidFill>
                <a:latin typeface="微软雅黑"/>
                <a:ea typeface="微软雅黑"/>
              </a:rPr>
              <a:t> X 光)。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latin typeface="微软雅黑"/>
                <a:ea typeface="微软雅黑"/>
              </a:rPr>
              <a:t>在前期工作第一步的基础上，我们把不可观测的近端关节显式标为先验</a:t>
            </a:r>
            <a:r>
              <a:rPr sz="1600" b="1" dirty="0">
                <a:latin typeface="微软雅黑"/>
                <a:ea typeface="微软雅黑"/>
              </a:rPr>
              <a:t>——</a:t>
            </a:r>
            <a:r>
              <a:rPr sz="1600" b="1" dirty="0" err="1">
                <a:latin typeface="微软雅黑"/>
                <a:ea typeface="微软雅黑"/>
              </a:rPr>
              <a:t>让「测量」和「假设」分得更清楚</a:t>
            </a:r>
            <a:r>
              <a:rPr sz="1600" b="1" dirty="0">
                <a:latin typeface="微软雅黑"/>
                <a:ea typeface="微软雅黑"/>
              </a:rPr>
              <a:t>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B925ED9-87BE-4A2A-29B6-2CEB54F0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839" y="3330413"/>
            <a:ext cx="2750997" cy="2875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291899"/>
            <a:ext cx="1106424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方法迭代</a:t>
            </a:r>
            <a:endParaRPr sz="3000" b="1" dirty="0">
              <a:solidFill>
                <a:srgbClr val="7F2D32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 descr="v1_5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" y="1325880"/>
            <a:ext cx="5052059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2360" y="1325880"/>
            <a:ext cx="4023360" cy="15544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7F2D32"/>
                </a:solidFill>
                <a:latin typeface="微软雅黑"/>
                <a:ea typeface="微软雅黑"/>
              </a:rPr>
              <a:t>① 五点全标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428"/>
                </a:solidFill>
                <a:latin typeface="微软雅黑"/>
                <a:ea typeface="微软雅黑"/>
              </a:rPr>
              <a:t>把看不见的膝/髋也当测量 → 角度尖刺乱跳(蓝/橙线),其实是标注噪声。</a:t>
            </a:r>
          </a:p>
        </p:txBody>
      </p:sp>
      <p:pic>
        <p:nvPicPr>
          <p:cNvPr id="5" name="Picture 4" descr="v2_d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890" y="3017520"/>
            <a:ext cx="5052059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3467747"/>
            <a:ext cx="4023360" cy="654025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7F2D32"/>
                </a:solidFill>
                <a:latin typeface="微软雅黑"/>
                <a:ea typeface="微软雅黑"/>
              </a:rPr>
              <a:t>② </a:t>
            </a:r>
            <a:r>
              <a:rPr sz="1400" b="1" dirty="0" err="1">
                <a:solidFill>
                  <a:srgbClr val="7F2D32"/>
                </a:solidFill>
                <a:latin typeface="微软雅黑"/>
                <a:ea typeface="微软雅黑"/>
              </a:rPr>
              <a:t>舍弃隐藏关节</a:t>
            </a:r>
            <a:endParaRPr sz="14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角度变干净常数</a:t>
            </a:r>
            <a:r>
              <a:rPr sz="1300" b="0" dirty="0">
                <a:solidFill>
                  <a:srgbClr val="242428"/>
                </a:solidFill>
                <a:latin typeface="微软雅黑"/>
                <a:ea typeface="微软雅黑"/>
              </a:rPr>
              <a:t>(</a:t>
            </a: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先验</a:t>
            </a:r>
            <a:r>
              <a:rPr sz="1300" b="0" dirty="0">
                <a:solidFill>
                  <a:srgbClr val="242428"/>
                </a:solidFill>
                <a:latin typeface="微软雅黑"/>
                <a:ea typeface="微软雅黑"/>
              </a:rPr>
              <a:t>),</a:t>
            </a:r>
            <a:r>
              <a:rPr lang="en-US" sz="1300" b="0" dirty="0">
                <a:solidFill>
                  <a:srgbClr val="242428"/>
                </a:solidFill>
                <a:latin typeface="微软雅黑"/>
                <a:ea typeface="微软雅黑"/>
              </a:rPr>
              <a:t> </a:t>
            </a: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但骨架里近端「朝向」会前后乱翻</a:t>
            </a:r>
            <a:r>
              <a:rPr sz="130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</p:txBody>
      </p:sp>
      <p:pic>
        <p:nvPicPr>
          <p:cNvPr id="7" name="Picture 6" descr="v3_s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890" y="4709160"/>
            <a:ext cx="5052059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5259415"/>
            <a:ext cx="4023360" cy="45397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7F2D32"/>
                </a:solidFill>
                <a:latin typeface="微软雅黑"/>
                <a:ea typeface="微软雅黑"/>
              </a:rPr>
              <a:t>③ </a:t>
            </a:r>
            <a:r>
              <a:rPr sz="1400" b="1" dirty="0" err="1">
                <a:solidFill>
                  <a:srgbClr val="7F2D32"/>
                </a:solidFill>
                <a:latin typeface="微软雅黑"/>
                <a:ea typeface="微软雅黑"/>
              </a:rPr>
              <a:t>最新</a:t>
            </a:r>
            <a:endParaRPr sz="14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用对侧踝定</a:t>
            </a:r>
            <a:r>
              <a:rPr lang="en-US"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hip</a:t>
            </a:r>
            <a:r>
              <a:rPr lang="en-US" sz="1300" b="0" dirty="0">
                <a:solidFill>
                  <a:srgbClr val="242428"/>
                </a:solidFill>
                <a:latin typeface="微软雅黑"/>
                <a:ea typeface="微软雅黑"/>
              </a:rPr>
              <a:t>/knee</a:t>
            </a:r>
            <a:r>
              <a:rPr lang="zh-CN" altLang="en-US" sz="1300" b="0" dirty="0">
                <a:solidFill>
                  <a:srgbClr val="242428"/>
                </a:solidFill>
                <a:latin typeface="微软雅黑"/>
                <a:ea typeface="微软雅黑"/>
              </a:rPr>
              <a:t>的左右</a:t>
            </a:r>
            <a:r>
              <a:rPr sz="1300" b="0" dirty="0">
                <a:solidFill>
                  <a:srgbClr val="242428"/>
                </a:solidFill>
                <a:latin typeface="微软雅黑"/>
                <a:ea typeface="微软雅黑"/>
              </a:rPr>
              <a:t> → </a:t>
            </a:r>
            <a:r>
              <a:rPr sz="1300" b="0" dirty="0" err="1">
                <a:solidFill>
                  <a:srgbClr val="242428"/>
                </a:solidFill>
                <a:latin typeface="微软雅黑"/>
                <a:ea typeface="微软雅黑"/>
              </a:rPr>
              <a:t>近端朝向全程一致</a:t>
            </a:r>
            <a:r>
              <a:rPr lang="zh-CN" altLang="en-US" sz="130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  <a:endParaRPr sz="1300" b="0" dirty="0">
              <a:solidFill>
                <a:srgbClr val="24242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eg_linkage_lateral_1">
            <a:hlinkClick r:id="" action="ppaction://media"/>
            <a:extLst>
              <a:ext uri="{FF2B5EF4-FFF2-40B4-BE49-F238E27FC236}">
                <a16:creationId xmlns:a16="http://schemas.microsoft.com/office/drawing/2014/main" id="{C2724DCF-AC72-770E-34A0-1BE826E288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002788" y="2651051"/>
            <a:ext cx="5766171" cy="4495434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8311EF20-CE90-3991-B08B-E845548890ED}"/>
              </a:ext>
            </a:extLst>
          </p:cNvPr>
          <p:cNvSpPr txBox="1"/>
          <p:nvPr/>
        </p:nvSpPr>
        <p:spPr>
          <a:xfrm>
            <a:off x="584367" y="343485"/>
            <a:ext cx="1106424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方法迭代</a:t>
            </a:r>
            <a:endParaRPr sz="3000" b="1" dirty="0">
              <a:solidFill>
                <a:srgbClr val="7F2D32"/>
              </a:solidFill>
              <a:latin typeface="微软雅黑"/>
              <a:ea typeface="微软雅黑"/>
            </a:endParaRPr>
          </a:p>
        </p:txBody>
      </p:sp>
      <p:pic>
        <p:nvPicPr>
          <p:cNvPr id="4" name="kp_pred">
            <a:hlinkClick r:id="" action="ppaction://media"/>
            <a:extLst>
              <a:ext uri="{FF2B5EF4-FFF2-40B4-BE49-F238E27FC236}">
                <a16:creationId xmlns:a16="http://schemas.microsoft.com/office/drawing/2014/main" id="{7B76A93E-ACA2-5162-C5EA-86383F42DD7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312751" y="1201261"/>
            <a:ext cx="3613002" cy="2032313"/>
          </a:xfrm>
          <a:prstGeom prst="rect">
            <a:avLst/>
          </a:prstGeom>
        </p:spPr>
      </p:pic>
      <p:pic>
        <p:nvPicPr>
          <p:cNvPr id="5" name="kp_honest">
            <a:hlinkClick r:id="" action="ppaction://media"/>
            <a:extLst>
              <a:ext uri="{FF2B5EF4-FFF2-40B4-BE49-F238E27FC236}">
                <a16:creationId xmlns:a16="http://schemas.microsoft.com/office/drawing/2014/main" id="{ABAB6862-4F8E-C405-AB2A-8E14296D1837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035607" y="1201261"/>
            <a:ext cx="3613000" cy="2032313"/>
          </a:xfrm>
          <a:prstGeom prst="rect">
            <a:avLst/>
          </a:prstGeom>
        </p:spPr>
      </p:pic>
      <p:pic>
        <p:nvPicPr>
          <p:cNvPr id="6" name="kp_measured">
            <a:hlinkClick r:id="" action="ppaction://media"/>
            <a:extLst>
              <a:ext uri="{FF2B5EF4-FFF2-40B4-BE49-F238E27FC236}">
                <a16:creationId xmlns:a16="http://schemas.microsoft.com/office/drawing/2014/main" id="{F30835CD-6F6B-4CF0-8E52-8337A1B9277D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25622" y="3482659"/>
            <a:ext cx="5225611" cy="2939406"/>
          </a:xfrm>
          <a:prstGeom prst="rect">
            <a:avLst/>
          </a:prstGeom>
        </p:spPr>
      </p:pic>
      <p:pic>
        <p:nvPicPr>
          <p:cNvPr id="8" name="overlay">
            <a:hlinkClick r:id="" action="ppaction://media"/>
            <a:extLst>
              <a:ext uri="{FF2B5EF4-FFF2-40B4-BE49-F238E27FC236}">
                <a16:creationId xmlns:a16="http://schemas.microsoft.com/office/drawing/2014/main" id="{442DFCE8-69F4-33AB-DC9D-C8E5F172B6DC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25623" y="1201261"/>
            <a:ext cx="3613001" cy="2032313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C58FAE-04AA-5D6B-5A08-8358439E11ED}"/>
              </a:ext>
            </a:extLst>
          </p:cNvPr>
          <p:cNvSpPr/>
          <p:nvPr/>
        </p:nvSpPr>
        <p:spPr>
          <a:xfrm>
            <a:off x="579120" y="901700"/>
            <a:ext cx="3700780" cy="2331874"/>
          </a:xfrm>
          <a:prstGeom prst="roundRect">
            <a:avLst>
              <a:gd name="adj" fmla="val 2152"/>
            </a:avLst>
          </a:prstGeom>
          <a:noFill/>
          <a:ln>
            <a:solidFill>
              <a:srgbClr val="9E3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388DB7-0FE6-2717-19B8-74283459FFFC}"/>
              </a:ext>
            </a:extLst>
          </p:cNvPr>
          <p:cNvSpPr/>
          <p:nvPr/>
        </p:nvSpPr>
        <p:spPr>
          <a:xfrm>
            <a:off x="4279900" y="901700"/>
            <a:ext cx="3700780" cy="2331874"/>
          </a:xfrm>
          <a:prstGeom prst="roundRect">
            <a:avLst>
              <a:gd name="adj" fmla="val 2152"/>
            </a:avLst>
          </a:prstGeom>
          <a:noFill/>
          <a:ln>
            <a:solidFill>
              <a:srgbClr val="9E3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CCC751-5C44-2984-1BC6-439EDBA7CB69}"/>
              </a:ext>
            </a:extLst>
          </p:cNvPr>
          <p:cNvSpPr/>
          <p:nvPr/>
        </p:nvSpPr>
        <p:spPr>
          <a:xfrm>
            <a:off x="7980680" y="901700"/>
            <a:ext cx="3700780" cy="2331874"/>
          </a:xfrm>
          <a:prstGeom prst="roundRect">
            <a:avLst>
              <a:gd name="adj" fmla="val 2152"/>
            </a:avLst>
          </a:prstGeom>
          <a:noFill/>
          <a:ln>
            <a:solidFill>
              <a:srgbClr val="9E3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80B9A2-4C46-99BB-AD2E-CE90673EF6A5}"/>
              </a:ext>
            </a:extLst>
          </p:cNvPr>
          <p:cNvSpPr txBox="1"/>
          <p:nvPr/>
        </p:nvSpPr>
        <p:spPr>
          <a:xfrm>
            <a:off x="1734978" y="901700"/>
            <a:ext cx="1646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分割目标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55DC53-D584-0229-F45C-0836F3FD94A8}"/>
              </a:ext>
            </a:extLst>
          </p:cNvPr>
          <p:cNvSpPr txBox="1"/>
          <p:nvPr/>
        </p:nvSpPr>
        <p:spPr>
          <a:xfrm>
            <a:off x="5137371" y="901700"/>
            <a:ext cx="236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 ——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五点全标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0BC257-8A45-706D-C224-9608C7257B64}"/>
              </a:ext>
            </a:extLst>
          </p:cNvPr>
          <p:cNvSpPr txBox="1"/>
          <p:nvPr/>
        </p:nvSpPr>
        <p:spPr>
          <a:xfrm>
            <a:off x="8357259" y="901700"/>
            <a:ext cx="3096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  ——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舍弃不可见关键点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FE858A7-002B-7D67-210A-5C21D6BB8B61}"/>
              </a:ext>
            </a:extLst>
          </p:cNvPr>
          <p:cNvSpPr/>
          <p:nvPr/>
        </p:nvSpPr>
        <p:spPr>
          <a:xfrm>
            <a:off x="579120" y="3289560"/>
            <a:ext cx="11102340" cy="3338068"/>
          </a:xfrm>
          <a:prstGeom prst="roundRect">
            <a:avLst>
              <a:gd name="adj" fmla="val 2152"/>
            </a:avLst>
          </a:prstGeom>
          <a:noFill/>
          <a:ln>
            <a:solidFill>
              <a:srgbClr val="9E3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A95E58-F777-6914-E61E-0587BE95DFAD}"/>
              </a:ext>
            </a:extLst>
          </p:cNvPr>
          <p:cNvSpPr txBox="1"/>
          <p:nvPr/>
        </p:nvSpPr>
        <p:spPr>
          <a:xfrm>
            <a:off x="5897735" y="3285873"/>
            <a:ext cx="92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III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33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5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0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3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39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>
                <a:solidFill>
                  <a:srgbClr val="7F2D32"/>
                </a:solidFill>
                <a:latin typeface="微软雅黑"/>
                <a:ea typeface="微软雅黑"/>
              </a:rPr>
              <a:t>方法说明:LHS 采样 与 1 自由度等效</a:t>
            </a:r>
          </a:p>
        </p:txBody>
      </p:sp>
      <p:pic>
        <p:nvPicPr>
          <p:cNvPr id="3" name="Picture 2" descr="method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39" y="1120140"/>
            <a:ext cx="10607040" cy="47794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1208" y="6013896"/>
            <a:ext cx="11091672" cy="526808"/>
          </a:xfrm>
          <a:prstGeom prst="rect">
            <a:avLst/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242496"/>
            <a:ext cx="10607040" cy="158303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7F2D32"/>
                </a:solidFill>
                <a:latin typeface="微软雅黑"/>
                <a:ea typeface="微软雅黑"/>
              </a:rPr>
              <a:t>① LHS: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 </a:t>
            </a:r>
            <a:r>
              <a:rPr sz="1250" b="0" dirty="0" err="1">
                <a:solidFill>
                  <a:srgbClr val="242428"/>
                </a:solidFill>
                <a:latin typeface="微软雅黑"/>
                <a:ea typeface="微软雅黑"/>
              </a:rPr>
              <a:t>少量样本就把设计空间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(L1/r2/r3)</a:t>
            </a:r>
            <a:r>
              <a:rPr sz="1250" b="0" dirty="0" err="1">
                <a:solidFill>
                  <a:srgbClr val="242428"/>
                </a:solidFill>
                <a:latin typeface="微软雅黑"/>
                <a:ea typeface="微软雅黑"/>
              </a:rPr>
              <a:t>均匀铺满,省算力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;</a:t>
            </a:r>
            <a:r>
              <a:rPr sz="1250" b="1" dirty="0">
                <a:solidFill>
                  <a:srgbClr val="7F2D32"/>
                </a:solidFill>
                <a:latin typeface="微软雅黑"/>
                <a:ea typeface="微软雅黑"/>
              </a:rPr>
              <a:t>② 1 </a:t>
            </a:r>
            <a:r>
              <a:rPr sz="1250" b="1" dirty="0" err="1">
                <a:solidFill>
                  <a:srgbClr val="7F2D32"/>
                </a:solidFill>
                <a:latin typeface="微软雅黑"/>
                <a:ea typeface="微软雅黑"/>
              </a:rPr>
              <a:t>自由度</a:t>
            </a:r>
            <a:r>
              <a:rPr sz="1250" b="1" dirty="0">
                <a:solidFill>
                  <a:srgbClr val="7F2D32"/>
                </a:solidFill>
                <a:latin typeface="微软雅黑"/>
                <a:ea typeface="微软雅黑"/>
              </a:rPr>
              <a:t>: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 </a:t>
            </a:r>
            <a:r>
              <a:rPr sz="1250" b="0" dirty="0" err="1">
                <a:solidFill>
                  <a:srgbClr val="242428"/>
                </a:solidFill>
                <a:latin typeface="微软雅黑"/>
                <a:ea typeface="微软雅黑"/>
              </a:rPr>
              <a:t>两关节弹簧经力臂折算、串联成一个竖直等效弹簧,力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=</a:t>
            </a:r>
            <a:r>
              <a:rPr sz="1250" b="0" dirty="0" err="1">
                <a:solidFill>
                  <a:srgbClr val="242428"/>
                </a:solidFill>
                <a:latin typeface="微软雅黑"/>
                <a:ea typeface="微软雅黑"/>
              </a:rPr>
              <a:t>m×加速度</a:t>
            </a:r>
            <a:r>
              <a:rPr sz="125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6B6B72"/>
                </a:solidFill>
                <a:latin typeface="微软雅黑"/>
                <a:ea typeface="微软雅黑"/>
              </a:rPr>
              <a:t>⚠ </a:t>
            </a:r>
            <a:r>
              <a:rPr sz="1150" b="0" dirty="0" err="1">
                <a:solidFill>
                  <a:srgbClr val="6B6B72"/>
                </a:solidFill>
                <a:latin typeface="微软雅黑"/>
                <a:ea typeface="微软雅黑"/>
              </a:rPr>
              <a:t>参数为假设示意,只为打通「运动学→设计选优」接口、按几何排序;局限是压不住两关节的协调时序</a:t>
            </a:r>
            <a:r>
              <a:rPr sz="1150" b="0" dirty="0">
                <a:solidFill>
                  <a:srgbClr val="6B6B72"/>
                </a:solidFill>
                <a:latin typeface="微软雅黑"/>
                <a:ea typeface="微软雅黑"/>
              </a:rPr>
              <a:t> → </a:t>
            </a:r>
            <a:r>
              <a:rPr sz="1150" b="0" dirty="0" err="1">
                <a:solidFill>
                  <a:srgbClr val="6B6B72"/>
                </a:solidFill>
                <a:latin typeface="微软雅黑"/>
                <a:ea typeface="微软雅黑"/>
              </a:rPr>
              <a:t>下一步升级多体</a:t>
            </a:r>
            <a:r>
              <a:rPr sz="1150" b="0" dirty="0">
                <a:solidFill>
                  <a:srgbClr val="6B6B72"/>
                </a:solidFill>
                <a:latin typeface="微软雅黑"/>
                <a:ea typeface="微软雅黑"/>
              </a:rPr>
              <a:t>/</a:t>
            </a:r>
            <a:r>
              <a:rPr sz="1150" b="0" dirty="0" err="1">
                <a:solidFill>
                  <a:srgbClr val="6B6B72"/>
                </a:solidFill>
                <a:latin typeface="微软雅黑"/>
                <a:ea typeface="微软雅黑"/>
              </a:rPr>
              <a:t>主动模型或接有限元</a:t>
            </a:r>
            <a:r>
              <a:rPr sz="1150" b="0" dirty="0">
                <a:solidFill>
                  <a:srgbClr val="6B6B72"/>
                </a:solidFill>
                <a:latin typeface="微软雅黑"/>
                <a:ea typeface="微软雅黑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14A225C-F032-3BC3-B282-C20D4646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26" y="1531087"/>
            <a:ext cx="4159565" cy="43429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5E52A24-E125-2524-D122-AB95936535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15"/>
          <a:stretch>
            <a:fillRect/>
          </a:stretch>
        </p:blipFill>
        <p:spPr>
          <a:xfrm>
            <a:off x="777240" y="2675307"/>
            <a:ext cx="4560605" cy="1507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521" y="306076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发现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①：</a:t>
            </a: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鸟的「着陆节奏」是先慢、后快、再慢</a:t>
            </a:r>
            <a:endParaRPr sz="3000" b="1" dirty="0">
              <a:solidFill>
                <a:srgbClr val="7F2D32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 descr="stage5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37" y="991257"/>
            <a:ext cx="4847248" cy="3588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0237" y="4557523"/>
            <a:ext cx="5224619" cy="1661993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dirty="0" err="1">
                <a:solidFill>
                  <a:srgbClr val="7F2D32"/>
                </a:solidFill>
                <a:latin typeface="微软雅黑"/>
                <a:ea typeface="微软雅黑"/>
              </a:rPr>
              <a:t>生物着陆律</a:t>
            </a:r>
            <a:endParaRPr sz="1700" b="1" dirty="0">
              <a:solidFill>
                <a:srgbClr val="7F2D3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dirty="0" err="1">
                <a:solidFill>
                  <a:srgbClr val="242428"/>
                </a:solidFill>
                <a:latin typeface="微软雅黑"/>
                <a:ea typeface="微软雅黑"/>
              </a:rPr>
              <a:t>把整段弯腿过程量出来:腿在缓冲时如何随时间一点点压下去</a:t>
            </a:r>
            <a:r>
              <a:rPr sz="1450" b="0" dirty="0">
                <a:solidFill>
                  <a:srgbClr val="242428"/>
                </a:solidFill>
                <a:latin typeface="微软雅黑"/>
                <a:ea typeface="微软雅黑"/>
              </a:rPr>
              <a:t>(</a:t>
            </a:r>
            <a:r>
              <a:rPr sz="1450" b="0" dirty="0" err="1">
                <a:solidFill>
                  <a:srgbClr val="242428"/>
                </a:solidFill>
                <a:latin typeface="微软雅黑"/>
                <a:ea typeface="微软雅黑"/>
              </a:rPr>
              <a:t>绿线</a:t>
            </a:r>
            <a:r>
              <a:rPr sz="1450" b="0" dirty="0">
                <a:solidFill>
                  <a:srgbClr val="242428"/>
                </a:solidFill>
                <a:latin typeface="微软雅黑"/>
                <a:ea typeface="微软雅黑"/>
              </a:rPr>
              <a:t>)。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dirty="0" err="1">
                <a:solidFill>
                  <a:srgbClr val="242428"/>
                </a:solidFill>
                <a:latin typeface="微软雅黑"/>
                <a:ea typeface="微软雅黑"/>
              </a:rPr>
              <a:t>它不是匀速</a:t>
            </a:r>
            <a:r>
              <a:rPr sz="1450" b="0" dirty="0">
                <a:solidFill>
                  <a:srgbClr val="242428"/>
                </a:solidFill>
                <a:latin typeface="微软雅黑"/>
                <a:ea typeface="微软雅黑"/>
              </a:rPr>
              <a:t>——</a:t>
            </a:r>
            <a:r>
              <a:rPr sz="1450" b="0" dirty="0" err="1">
                <a:solidFill>
                  <a:srgbClr val="242428"/>
                </a:solidFill>
                <a:latin typeface="微软雅黑"/>
                <a:ea typeface="微软雅黑"/>
              </a:rPr>
              <a:t>刚碰到水先稳一下</a:t>
            </a:r>
            <a:r>
              <a:rPr sz="1450" b="0" dirty="0">
                <a:solidFill>
                  <a:srgbClr val="242428"/>
                </a:solidFill>
                <a:latin typeface="微软雅黑"/>
                <a:ea typeface="微软雅黑"/>
              </a:rPr>
              <a:t>(慢),</a:t>
            </a:r>
            <a:r>
              <a:rPr sz="1450" b="0" dirty="0" err="1">
                <a:solidFill>
                  <a:srgbClr val="242428"/>
                </a:solidFill>
                <a:latin typeface="微软雅黑"/>
                <a:ea typeface="微软雅黑"/>
              </a:rPr>
              <a:t>再快速弯下去吸掉大部分冲击,最后轻轻收住</a:t>
            </a:r>
            <a:r>
              <a:rPr sz="1450" b="0" dirty="0">
                <a:solidFill>
                  <a:srgbClr val="242428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6B6B72"/>
                </a:solidFill>
                <a:latin typeface="微软雅黑"/>
                <a:ea typeface="微软雅黑"/>
              </a:rPr>
              <a:t>这条曲线只用角度和时序算出,尺度无关,不需要任何力</a:t>
            </a:r>
            <a:r>
              <a:rPr sz="1300" b="0" dirty="0">
                <a:solidFill>
                  <a:srgbClr val="6B6B72"/>
                </a:solidFill>
                <a:latin typeface="微软雅黑"/>
                <a:ea typeface="微软雅黑"/>
              </a:rPr>
              <a:t>。</a:t>
            </a:r>
          </a:p>
        </p:txBody>
      </p:sp>
      <p:pic>
        <p:nvPicPr>
          <p:cNvPr id="6" name="sync_slide8_v">
            <a:hlinkClick r:id="" action="ppaction://media"/>
            <a:extLst>
              <a:ext uri="{FF2B5EF4-FFF2-40B4-BE49-F238E27FC236}">
                <a16:creationId xmlns:a16="http://schemas.microsoft.com/office/drawing/2014/main" id="{E1728AF3-3598-3527-8B7D-06791F9E0C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80360" y="1025215"/>
            <a:ext cx="5328838" cy="5448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320040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发现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②：</a:t>
            </a: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这条节奏，被动弹簧很难自然复现</a:t>
            </a:r>
            <a:endParaRPr sz="3000" b="1" dirty="0">
              <a:solidFill>
                <a:srgbClr val="7F2D32"/>
              </a:solidFill>
              <a:latin typeface="微软雅黑"/>
              <a:ea typeface="微软雅黑"/>
            </a:endParaRPr>
          </a:p>
        </p:txBody>
      </p:sp>
      <p:pic>
        <p:nvPicPr>
          <p:cNvPr id="3" name="Picture 2" descr="stage5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" y="1645920"/>
            <a:ext cx="5442508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7999" y="2967609"/>
            <a:ext cx="4625163" cy="1654299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7F2D32"/>
                </a:solidFill>
                <a:latin typeface="微软雅黑"/>
                <a:ea typeface="微软雅黑"/>
              </a:rPr>
              <a:t>关键的一点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42428"/>
                </a:solidFill>
                <a:latin typeface="微软雅黑"/>
                <a:ea typeface="微软雅黑"/>
              </a:rPr>
              <a:t>鸟的压缩最快点延迟到中段(</a:t>
            </a:r>
            <a:r>
              <a:rPr sz="1400" b="1">
                <a:solidFill>
                  <a:srgbClr val="1A7A3A"/>
                </a:solidFill>
                <a:latin typeface="微软雅黑"/>
                <a:ea typeface="微软雅黑"/>
              </a:rPr>
              <a:t>绿线</a:t>
            </a:r>
            <a:r>
              <a:rPr sz="1400" b="0">
                <a:solidFill>
                  <a:srgbClr val="242428"/>
                </a:solidFill>
                <a:latin typeface="微软雅黑"/>
                <a:ea typeface="微软雅黑"/>
              </a:rPr>
              <a:t>)；而被动弹簧一碰地速度就最大(</a:t>
            </a:r>
            <a:r>
              <a:rPr sz="1400" b="1">
                <a:solidFill>
                  <a:srgbClr val="7F2D32"/>
                </a:solidFill>
                <a:latin typeface="微软雅黑"/>
                <a:ea typeface="微软雅黑"/>
              </a:rPr>
              <a:t>红线</a:t>
            </a:r>
            <a:r>
              <a:rPr sz="1400" b="0">
                <a:solidFill>
                  <a:srgbClr val="242428"/>
                </a:solidFill>
                <a:latin typeface="微软雅黑"/>
                <a:ea typeface="微软雅黑"/>
              </a:rPr>
              <a:t>，最快点在起点)。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42428"/>
                </a:solidFill>
                <a:latin typeface="微软雅黑"/>
                <a:ea typeface="微软雅黑"/>
              </a:rPr>
              <a:t>被动弹簧-阻尼很难自然产生这种「延迟起峰」，这是它的固有特性，不是调参能改的。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7F2D32"/>
                </a:solidFill>
                <a:latin typeface="微软雅黑"/>
                <a:ea typeface="微软雅黑"/>
              </a:rPr>
              <a:t>⇒ 鸟是在主动、掐着时间控制腿的力气,不是被动被压。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8892"/>
            <a:ext cx="11064240" cy="8686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生物学依据:着陆是「主动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 + </a:t>
            </a: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串联弹性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754880" cy="2880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7F2D32"/>
                </a:solidFill>
                <a:latin typeface="微软雅黑"/>
                <a:ea typeface="微软雅黑"/>
              </a:rPr>
              <a:t>机制① 主动预激活(提前、按落差定时)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42428"/>
                </a:solidFill>
                <a:latin typeface="微软雅黑"/>
                <a:ea typeface="微软雅黑"/>
              </a:rPr>
              <a:t>原文:</a:t>
            </a:r>
            <a:r>
              <a:rPr sz="1050" b="0">
                <a:solidFill>
                  <a:srgbClr val="242428"/>
                </a:solidFill>
                <a:latin typeface="微软雅黑"/>
                <a:ea typeface="微软雅黑"/>
              </a:rPr>
              <a:t>《Prepared for landing: a simple activation strategy scales muscle force to landing height》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42428"/>
                </a:solidFill>
                <a:latin typeface="微软雅黑"/>
                <a:ea typeface="微软雅黑"/>
              </a:rPr>
              <a:t>结论:动物在下落中就提前激活肌肉,激活时长随落差成比例;靠主动发力调节腿部刚度,而非只靠被动肌腱。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428"/>
                </a:solidFill>
                <a:latin typeface="微软雅黑"/>
                <a:ea typeface="微软雅黑"/>
              </a:rPr>
              <a:t>鸟类佐证:</a:t>
            </a:r>
            <a:r>
              <a:rPr sz="1050" b="0">
                <a:solidFill>
                  <a:srgbClr val="6B6B72"/>
                </a:solidFill>
                <a:latin typeface="微软雅黑"/>
                <a:ea typeface="微软雅黑"/>
              </a:rPr>
              <a:t>《Birds achieve high robustness … through active control of landing conditions》——鸟主动调节着陆条件。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F3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4800600" cy="2880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7F2D32"/>
                </a:solidFill>
                <a:latin typeface="微软雅黑"/>
                <a:ea typeface="微软雅黑"/>
              </a:rPr>
              <a:t>机制② 串联弹性缓冲(分时段:弹性先、主动后)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42428"/>
                </a:solidFill>
                <a:latin typeface="微软雅黑"/>
                <a:ea typeface="微软雅黑"/>
              </a:rPr>
              <a:t>原文:</a:t>
            </a:r>
            <a:r>
              <a:rPr sz="1050" b="0">
                <a:solidFill>
                  <a:srgbClr val="242428"/>
                </a:solidFill>
                <a:latin typeface="微软雅黑"/>
                <a:ea typeface="微软雅黑"/>
              </a:rPr>
              <a:t>《The series elastic shock absorber: tendon elasticity modulates energy dissipation by muscle during burst deceleration》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42428"/>
                </a:solidFill>
                <a:latin typeface="微软雅黑"/>
                <a:ea typeface="微软雅黑"/>
              </a:rPr>
              <a:t>原文:</a:t>
            </a:r>
            <a:r>
              <a:rPr sz="1050" b="0">
                <a:solidFill>
                  <a:srgbClr val="242428"/>
                </a:solidFill>
                <a:latin typeface="微软雅黑"/>
                <a:ea typeface="微软雅黑"/>
              </a:rPr>
              <a:t>《Muscle power attenuation by tendon during energy dissipation》(Roberts &amp; Konow, 2011)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2428"/>
                </a:solidFill>
                <a:latin typeface="微软雅黑"/>
                <a:ea typeface="微软雅黑"/>
              </a:rPr>
              <a:t>结论:急剧减速时,肌腱先快速拉伸、缓冲冲击并衰减峰值功率,再把能量较慢地喂给肌肉主动耗散——时间上分成两段。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10789920" cy="1325880"/>
          </a:xfrm>
          <a:prstGeom prst="roundRect">
            <a:avLst>
              <a:gd name="adj" fmla="val 6000"/>
            </a:avLst>
          </a:prstGeom>
          <a:solidFill>
            <a:srgbClr val="7F2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047488"/>
            <a:ext cx="1033272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腿 ≠ 被动弹簧;腿 = 弹簧(肌腱) 串联 主动可控阻尼器(肌肉)。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BD8DA"/>
                </a:solidFill>
                <a:latin typeface="微软雅黑"/>
                <a:ea typeface="微软雅黑"/>
              </a:rPr>
              <a:t>⇒ 仿生起落架 = 弹簧 + 半主动/主动阻尼(成熟技术);发现②由「推断」升级为「文献支撑的结论」。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106424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3000" b="1" dirty="0">
                <a:solidFill>
                  <a:srgbClr val="7F2D32"/>
                </a:solidFill>
                <a:latin typeface="微软雅黑"/>
                <a:ea typeface="微软雅黑"/>
              </a:rPr>
              <a:t>尝试提升数值对齐飞机 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(</a:t>
            </a:r>
            <a:r>
              <a:rPr sz="3000" b="1" dirty="0" err="1">
                <a:solidFill>
                  <a:srgbClr val="7F2D32"/>
                </a:solidFill>
                <a:latin typeface="微软雅黑"/>
                <a:ea typeface="微软雅黑"/>
              </a:rPr>
              <a:t>对接前期工作的设计流程</a:t>
            </a:r>
            <a:r>
              <a:rPr sz="3000" b="1" dirty="0">
                <a:solidFill>
                  <a:srgbClr val="7F2D32"/>
                </a:solidFill>
                <a:latin typeface="微软雅黑"/>
                <a:ea typeface="微软雅黑"/>
              </a:rPr>
              <a:t>)</a:t>
            </a:r>
          </a:p>
        </p:txBody>
      </p:sp>
      <p:pic>
        <p:nvPicPr>
          <p:cNvPr id="3" name="Picture 2" descr="st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85" y="1061261"/>
            <a:ext cx="8767962" cy="337229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099181F7-AEE7-65ED-FFBC-5892A77B0B8C}"/>
              </a:ext>
            </a:extLst>
          </p:cNvPr>
          <p:cNvGrpSpPr/>
          <p:nvPr/>
        </p:nvGrpSpPr>
        <p:grpSpPr>
          <a:xfrm>
            <a:off x="548640" y="5056486"/>
            <a:ext cx="10403603" cy="430067"/>
            <a:chOff x="548640" y="4496352"/>
            <a:chExt cx="10403603" cy="430067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4496352"/>
              <a:ext cx="7489574" cy="430067"/>
            </a:xfrm>
            <a:prstGeom prst="roundRect">
              <a:avLst>
                <a:gd name="adj" fmla="val 6000"/>
              </a:avLst>
            </a:prstGeom>
            <a:solidFill>
              <a:srgbClr val="F3E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9523" y="4606478"/>
              <a:ext cx="10332720" cy="200055"/>
            </a:xfrm>
            <a:prstGeom prst="rect">
              <a:avLst/>
            </a:prstGeom>
            <a:noFill/>
          </p:spPr>
          <p:txBody>
            <a:bodyPr wrap="square" lIns="45720" tIns="0" rIns="4572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1" dirty="0">
                  <a:solidFill>
                    <a:srgbClr val="7F2D32"/>
                  </a:solidFill>
                  <a:latin typeface="微软雅黑"/>
                  <a:ea typeface="微软雅黑"/>
                </a:rPr>
                <a:t>⚠ </a:t>
              </a:r>
              <a:r>
                <a:rPr sz="1300" b="1" dirty="0" err="1">
                  <a:solidFill>
                    <a:srgbClr val="7F2D32"/>
                  </a:solidFill>
                  <a:latin typeface="微软雅黑"/>
                  <a:ea typeface="微软雅黑"/>
                </a:rPr>
                <a:t>说明</a:t>
              </a:r>
              <a:r>
                <a:rPr sz="1300" b="1" dirty="0">
                  <a:solidFill>
                    <a:srgbClr val="7F2D32"/>
                  </a:solidFill>
                  <a:latin typeface="微软雅黑"/>
                  <a:ea typeface="微软雅黑"/>
                </a:rPr>
                <a:t>:</a:t>
              </a:r>
              <a:r>
                <a:rPr sz="1300" b="0" dirty="0">
                  <a:solidFill>
                    <a:srgbClr val="242428"/>
                  </a:solidFill>
                  <a:latin typeface="微软雅黑"/>
                  <a:ea typeface="微软雅黑"/>
                </a:rPr>
                <a:t> </a:t>
              </a:r>
              <a:r>
                <a:rPr sz="1300" b="0" dirty="0" err="1">
                  <a:solidFill>
                    <a:srgbClr val="242428"/>
                  </a:solidFill>
                  <a:latin typeface="微软雅黑"/>
                  <a:ea typeface="微软雅黑"/>
                </a:rPr>
                <a:t>这里的「冲击力」是我假设的示意场景。此页只证明「接口能通</a:t>
              </a:r>
              <a:r>
                <a:rPr sz="1300" b="0" dirty="0">
                  <a:solidFill>
                    <a:srgbClr val="242428"/>
                  </a:solidFill>
                  <a:latin typeface="微软雅黑"/>
                  <a:ea typeface="微软雅黑"/>
                </a:rPr>
                <a:t>」,</a:t>
              </a:r>
              <a:r>
                <a:rPr sz="1300" b="0" dirty="0" err="1">
                  <a:solidFill>
                    <a:srgbClr val="242428"/>
                  </a:solidFill>
                  <a:latin typeface="微软雅黑"/>
                  <a:ea typeface="微软雅黑"/>
                </a:rPr>
                <a:t>加速度的绝对数字无意义</a:t>
              </a:r>
              <a:r>
                <a:rPr sz="1300" b="0" dirty="0">
                  <a:solidFill>
                    <a:srgbClr val="242428"/>
                  </a:solidFill>
                  <a:latin typeface="微软雅黑"/>
                  <a:ea typeface="微软雅黑"/>
                </a:rPr>
                <a:t>。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88BB896-489B-2971-67C1-8812D75C3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591" y="4504639"/>
            <a:ext cx="3725573" cy="1963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/>
      <a:lstStyle>
        <a:defPPr>
          <a:defRPr lang="zh-CN" altLang="en-US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618</Words>
  <Application>Microsoft Office PowerPoint</Application>
  <PresentationFormat>宽屏</PresentationFormat>
  <Paragraphs>98</Paragraphs>
  <Slides>12</Slides>
  <Notes>1</Notes>
  <HiddenSlides>0</HiddenSlides>
  <MMClips>6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袁 溢 - Yi Yuan</dc:creator>
  <cp:lastModifiedBy>Zihan WANG</cp:lastModifiedBy>
  <cp:revision>82</cp:revision>
  <dcterms:created xsi:type="dcterms:W3CDTF">2025-11-07T10:50:00Z</dcterms:created>
  <dcterms:modified xsi:type="dcterms:W3CDTF">2026-08-07T02:22:59Z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A4D456EBF641497F9F0B2A30E5BE36A8_13</vt:lpwstr>
  </property>
  <property fmtid="{D5CDD505-2E9C-101B-9397-08002B2CF9AE}" pid="3" name="KSOProductBuildVer">
    <vt:lpwstr>2052-12.1.0.25865</vt:lpwstr>
  </property>
</Properties>
</file>